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Acme owns permissions and permission sets. The client owns roles and groups. The justification is the edit count: a capability Acme ships costs one edit to a set, not an edit to every role or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wrong-way union is the concrete bug. Union the permissions across groups and then union the accounts, and the user can raise payments on the US trading accounts, which no group granted.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names the client role and, on the right, the Acme permission set behind it. The monospace line is the account scope the group carries.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E5E"/>
        </a:solidFill>
      </p:bgPr>
    </p:bg>
    <p:spTree>
      <p:nvGrpSpPr>
        <p:cNvPr id="1" name=""/>
        <p:cNvGrpSpPr/>
        <p:nvPr/>
      </p:nvGrpSpPr>
      <p:grpSpPr>
        <a:xfrm>
          <a:off x="0" y="0"/>
          <a:ext cx="0" cy="0"/>
          <a:chOff x="0" y="0"/>
          <a:chExt cx="0" cy="0"/>
        </a:xfrm>
      </p:grpSpPr>
      <p:sp>
        <p:nvSpPr>
          <p:cNvPr id="2" name="Text 0"/>
          <p:cNvSpPr/>
          <p:nvPr/>
        </p:nvSpPr>
        <p:spPr>
          <a:xfrm>
            <a:off x="548640" y="347472"/>
            <a:ext cx="8229600" cy="5486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Four layers, two owners</a:t>
            </a:r>
            <a:endParaRPr lang="en-US" sz="3800" dirty="0"/>
          </a:p>
        </p:txBody>
      </p:sp>
      <p:sp>
        <p:nvSpPr>
          <p:cNvPr id="3" name="Text 1"/>
          <p:cNvSpPr/>
          <p:nvPr/>
        </p:nvSpPr>
        <p:spPr>
          <a:xfrm>
            <a:off x="548640" y="914400"/>
            <a:ext cx="8229600" cy="292608"/>
          </a:xfrm>
          <a:prstGeom prst="rect">
            <a:avLst/>
          </a:prstGeom>
          <a:noFill/>
          <a:ln/>
        </p:spPr>
        <p:txBody>
          <a:bodyPr wrap="square" lIns="0" tIns="0" rIns="0" bIns="0" rtlCol="0" anchor="ctr"/>
          <a:lstStyle/>
          <a:p>
            <a:pPr indent="0" marL="0">
              <a:buNone/>
            </a:pPr>
            <a:r>
              <a:rPr lang="en-US" sz="1400" dirty="0">
                <a:solidFill>
                  <a:srgbClr val="CFDCFA"/>
                </a:solidFill>
                <a:latin typeface="Calibri" pitchFamily="34" charset="0"/>
                <a:ea typeface="Calibri" pitchFamily="34" charset="-122"/>
                <a:cs typeface="Calibri" pitchFamily="34" charset="-120"/>
              </a:rPr>
              <a:t>Permission  →  Permission Set  →  Role  →  Group  →  User</a:t>
            </a:r>
            <a:endParaRPr lang="en-US" sz="1400" dirty="0"/>
          </a:p>
        </p:txBody>
      </p:sp>
      <p:sp>
        <p:nvSpPr>
          <p:cNvPr id="4" name="Shape 2"/>
          <p:cNvSpPr/>
          <p:nvPr/>
        </p:nvSpPr>
        <p:spPr>
          <a:xfrm>
            <a:off x="548640" y="1463040"/>
            <a:ext cx="5943600" cy="841248"/>
          </a:xfrm>
          <a:prstGeom prst="roundRect">
            <a:avLst>
              <a:gd name="adj" fmla="val 8696"/>
            </a:avLst>
          </a:prstGeom>
          <a:solidFill>
            <a:srgbClr val="13286B"/>
          </a:solidFill>
          <a:ln w="9525">
            <a:solidFill>
              <a:srgbClr val="1E3A8F"/>
            </a:solidFill>
            <a:prstDash val="solid"/>
          </a:ln>
        </p:spPr>
      </p:sp>
      <p:sp>
        <p:nvSpPr>
          <p:cNvPr id="5" name="Shape 3"/>
          <p:cNvSpPr/>
          <p:nvPr/>
        </p:nvSpPr>
        <p:spPr>
          <a:xfrm>
            <a:off x="749808" y="1700784"/>
            <a:ext cx="365760" cy="365760"/>
          </a:xfrm>
          <a:prstGeom prst="ellipse">
            <a:avLst/>
          </a:prstGeom>
          <a:solidFill>
            <a:srgbClr val="CFDCFA"/>
          </a:solidFill>
          <a:ln w="12700">
            <a:solidFill>
              <a:srgbClr val="CFDCFA"/>
            </a:solidFill>
            <a:prstDash val="solid"/>
          </a:ln>
        </p:spPr>
      </p:sp>
      <p:sp>
        <p:nvSpPr>
          <p:cNvPr id="6" name="Text 4"/>
          <p:cNvSpPr/>
          <p:nvPr/>
        </p:nvSpPr>
        <p:spPr>
          <a:xfrm>
            <a:off x="749808" y="1700784"/>
            <a:ext cx="365760" cy="365760"/>
          </a:xfrm>
          <a:prstGeom prst="rect">
            <a:avLst/>
          </a:prstGeom>
          <a:noFill/>
          <a:ln/>
        </p:spPr>
        <p:txBody>
          <a:bodyPr wrap="square" lIns="0" tIns="0" rIns="0" bIns="0" rtlCol="0" anchor="ctr"/>
          <a:lstStyle/>
          <a:p>
            <a:pPr algn="ctr" indent="0" marL="0">
              <a:buNone/>
            </a:pPr>
            <a:r>
              <a:rPr lang="en-US" sz="1300" b="1" dirty="0">
                <a:solidFill>
                  <a:srgbClr val="071E5E"/>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43584" y="1572768"/>
            <a:ext cx="2926080" cy="2560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Permission</a:t>
            </a:r>
            <a:endParaRPr lang="en-US" sz="1400" dirty="0"/>
          </a:p>
        </p:txBody>
      </p:sp>
      <p:sp>
        <p:nvSpPr>
          <p:cNvPr id="8" name="Text 6"/>
          <p:cNvSpPr/>
          <p:nvPr/>
        </p:nvSpPr>
        <p:spPr>
          <a:xfrm>
            <a:off x="4572000" y="1591056"/>
            <a:ext cx="1700784" cy="219456"/>
          </a:xfrm>
          <a:prstGeom prst="rect">
            <a:avLst/>
          </a:prstGeom>
          <a:noFill/>
          <a:ln/>
        </p:spPr>
        <p:txBody>
          <a:bodyPr wrap="square" lIns="0" tIns="0" rIns="0" bIns="0" rtlCol="0" anchor="ctr"/>
          <a:lstStyle/>
          <a:p>
            <a:pPr algn="r" indent="0" marL="0">
              <a:buNone/>
            </a:pPr>
            <a:r>
              <a:rPr lang="en-US" sz="950" dirty="0">
                <a:solidFill>
                  <a:srgbClr val="12B981"/>
                </a:solidFill>
                <a:latin typeface="Calibri" pitchFamily="34" charset="0"/>
                <a:ea typeface="Calibri" pitchFamily="34" charset="-122"/>
                <a:cs typeface="Calibri" pitchFamily="34" charset="-120"/>
              </a:rPr>
              <a:t>Acme</a:t>
            </a:r>
            <a:endParaRPr lang="en-US" sz="950" dirty="0"/>
          </a:p>
        </p:txBody>
      </p:sp>
      <p:sp>
        <p:nvSpPr>
          <p:cNvPr id="9" name="Text 7"/>
          <p:cNvSpPr/>
          <p:nvPr/>
        </p:nvSpPr>
        <p:spPr>
          <a:xfrm>
            <a:off x="1243584" y="1847088"/>
            <a:ext cx="5029200" cy="384048"/>
          </a:xfrm>
          <a:prstGeom prst="rect">
            <a:avLst/>
          </a:prstGeom>
          <a:noFill/>
          <a:ln/>
        </p:spPr>
        <p:txBody>
          <a:bodyPr wrap="square" lIns="0" tIns="0" rIns="0" bIns="0" rtlCol="0" anchor="ctr"/>
          <a:lstStyle/>
          <a:p>
            <a:pPr indent="0" marL="0">
              <a:buNone/>
            </a:pPr>
            <a:r>
              <a:rPr lang="en-US" sz="1050" dirty="0">
                <a:solidFill>
                  <a:srgbClr val="CFDCFA"/>
                </a:solidFill>
                <a:latin typeface="Calibri" pitchFamily="34" charset="0"/>
                <a:ea typeface="Calibri" pitchFamily="34" charset="-122"/>
                <a:cs typeface="Calibri" pitchFamily="34" charset="-120"/>
              </a:rPr>
              <a:t>One capability the API can check. Transactions, Balances, Payment Orders, Payment Approvals, Comments.</a:t>
            </a:r>
            <a:endParaRPr lang="en-US" sz="1050" dirty="0"/>
          </a:p>
        </p:txBody>
      </p:sp>
      <p:sp>
        <p:nvSpPr>
          <p:cNvPr id="10" name="Shape 8"/>
          <p:cNvSpPr/>
          <p:nvPr/>
        </p:nvSpPr>
        <p:spPr>
          <a:xfrm>
            <a:off x="548640" y="2377440"/>
            <a:ext cx="5943600" cy="841248"/>
          </a:xfrm>
          <a:prstGeom prst="roundRect">
            <a:avLst>
              <a:gd name="adj" fmla="val 8696"/>
            </a:avLst>
          </a:prstGeom>
          <a:solidFill>
            <a:srgbClr val="13286B"/>
          </a:solidFill>
          <a:ln w="9525">
            <a:solidFill>
              <a:srgbClr val="1E3A8F"/>
            </a:solidFill>
            <a:prstDash val="solid"/>
          </a:ln>
        </p:spPr>
      </p:sp>
      <p:sp>
        <p:nvSpPr>
          <p:cNvPr id="11" name="Shape 9"/>
          <p:cNvSpPr/>
          <p:nvPr/>
        </p:nvSpPr>
        <p:spPr>
          <a:xfrm>
            <a:off x="749808" y="2615184"/>
            <a:ext cx="365760" cy="365760"/>
          </a:xfrm>
          <a:prstGeom prst="ellipse">
            <a:avLst/>
          </a:prstGeom>
          <a:solidFill>
            <a:srgbClr val="CFDCFA"/>
          </a:solidFill>
          <a:ln w="12700">
            <a:solidFill>
              <a:srgbClr val="CFDCFA"/>
            </a:solidFill>
            <a:prstDash val="solid"/>
          </a:ln>
        </p:spPr>
      </p:sp>
      <p:sp>
        <p:nvSpPr>
          <p:cNvPr id="12" name="Text 10"/>
          <p:cNvSpPr/>
          <p:nvPr/>
        </p:nvSpPr>
        <p:spPr>
          <a:xfrm>
            <a:off x="749808" y="2615184"/>
            <a:ext cx="365760" cy="365760"/>
          </a:xfrm>
          <a:prstGeom prst="rect">
            <a:avLst/>
          </a:prstGeom>
          <a:noFill/>
          <a:ln/>
        </p:spPr>
        <p:txBody>
          <a:bodyPr wrap="square" lIns="0" tIns="0" rIns="0" bIns="0" rtlCol="0" anchor="ctr"/>
          <a:lstStyle/>
          <a:p>
            <a:pPr algn="ctr" indent="0" marL="0">
              <a:buNone/>
            </a:pPr>
            <a:r>
              <a:rPr lang="en-US" sz="1300" b="1" dirty="0">
                <a:solidFill>
                  <a:srgbClr val="071E5E"/>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1243584" y="2487168"/>
            <a:ext cx="2926080" cy="2560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Permission Set</a:t>
            </a:r>
            <a:endParaRPr lang="en-US" sz="1400" dirty="0"/>
          </a:p>
        </p:txBody>
      </p:sp>
      <p:sp>
        <p:nvSpPr>
          <p:cNvPr id="14" name="Text 12"/>
          <p:cNvSpPr/>
          <p:nvPr/>
        </p:nvSpPr>
        <p:spPr>
          <a:xfrm>
            <a:off x="4572000" y="2505456"/>
            <a:ext cx="1700784" cy="219456"/>
          </a:xfrm>
          <a:prstGeom prst="rect">
            <a:avLst/>
          </a:prstGeom>
          <a:noFill/>
          <a:ln/>
        </p:spPr>
        <p:txBody>
          <a:bodyPr wrap="square" lIns="0" tIns="0" rIns="0" bIns="0" rtlCol="0" anchor="ctr"/>
          <a:lstStyle/>
          <a:p>
            <a:pPr algn="r" indent="0" marL="0">
              <a:buNone/>
            </a:pPr>
            <a:r>
              <a:rPr lang="en-US" sz="950" dirty="0">
                <a:solidFill>
                  <a:srgbClr val="12B981"/>
                </a:solidFill>
                <a:latin typeface="Calibri" pitchFamily="34" charset="0"/>
                <a:ea typeface="Calibri" pitchFamily="34" charset="-122"/>
                <a:cs typeface="Calibri" pitchFamily="34" charset="-120"/>
              </a:rPr>
              <a:t>Acme</a:t>
            </a:r>
            <a:endParaRPr lang="en-US" sz="950" dirty="0"/>
          </a:p>
        </p:txBody>
      </p:sp>
      <p:sp>
        <p:nvSpPr>
          <p:cNvPr id="15" name="Text 13"/>
          <p:cNvSpPr/>
          <p:nvPr/>
        </p:nvSpPr>
        <p:spPr>
          <a:xfrm>
            <a:off x="1243584" y="2761488"/>
            <a:ext cx="5029200" cy="384048"/>
          </a:xfrm>
          <a:prstGeom prst="rect">
            <a:avLst/>
          </a:prstGeom>
          <a:noFill/>
          <a:ln/>
        </p:spPr>
        <p:txBody>
          <a:bodyPr wrap="square" lIns="0" tIns="0" rIns="0" bIns="0" rtlCol="0" anchor="ctr"/>
          <a:lstStyle/>
          <a:p>
            <a:pPr indent="0" marL="0">
              <a:buNone/>
            </a:pPr>
            <a:r>
              <a:rPr lang="en-US" sz="1050" dirty="0">
                <a:solidFill>
                  <a:srgbClr val="CFDCFA"/>
                </a:solidFill>
                <a:latin typeface="Calibri" pitchFamily="34" charset="0"/>
                <a:ea typeface="Calibri" pitchFamily="34" charset="-122"/>
                <a:cs typeface="Calibri" pitchFamily="34" charset="-120"/>
              </a:rPr>
              <a:t>The permissions that are only useful together. Approving a payment you cannot read is not a usable grant.</a:t>
            </a:r>
            <a:endParaRPr lang="en-US" sz="1050" dirty="0"/>
          </a:p>
        </p:txBody>
      </p:sp>
      <p:sp>
        <p:nvSpPr>
          <p:cNvPr id="16" name="Shape 14"/>
          <p:cNvSpPr/>
          <p:nvPr/>
        </p:nvSpPr>
        <p:spPr>
          <a:xfrm>
            <a:off x="548640" y="3291840"/>
            <a:ext cx="5943600" cy="841248"/>
          </a:xfrm>
          <a:prstGeom prst="roundRect">
            <a:avLst>
              <a:gd name="adj" fmla="val 8696"/>
            </a:avLst>
          </a:prstGeom>
          <a:solidFill>
            <a:srgbClr val="13286B"/>
          </a:solidFill>
          <a:ln w="9525">
            <a:solidFill>
              <a:srgbClr val="1E3A8F"/>
            </a:solidFill>
            <a:prstDash val="solid"/>
          </a:ln>
        </p:spPr>
      </p:sp>
      <p:sp>
        <p:nvSpPr>
          <p:cNvPr id="17" name="Shape 15"/>
          <p:cNvSpPr/>
          <p:nvPr/>
        </p:nvSpPr>
        <p:spPr>
          <a:xfrm>
            <a:off x="749808" y="3529584"/>
            <a:ext cx="365760" cy="365760"/>
          </a:xfrm>
          <a:prstGeom prst="ellipse">
            <a:avLst/>
          </a:prstGeom>
          <a:solidFill>
            <a:srgbClr val="CFDCFA"/>
          </a:solidFill>
          <a:ln w="12700">
            <a:solidFill>
              <a:srgbClr val="CFDCFA"/>
            </a:solidFill>
            <a:prstDash val="solid"/>
          </a:ln>
        </p:spPr>
      </p:sp>
      <p:sp>
        <p:nvSpPr>
          <p:cNvPr id="18" name="Text 16"/>
          <p:cNvSpPr/>
          <p:nvPr/>
        </p:nvSpPr>
        <p:spPr>
          <a:xfrm>
            <a:off x="749808" y="3529584"/>
            <a:ext cx="365760" cy="365760"/>
          </a:xfrm>
          <a:prstGeom prst="rect">
            <a:avLst/>
          </a:prstGeom>
          <a:noFill/>
          <a:ln/>
        </p:spPr>
        <p:txBody>
          <a:bodyPr wrap="square" lIns="0" tIns="0" rIns="0" bIns="0" rtlCol="0" anchor="ctr"/>
          <a:lstStyle/>
          <a:p>
            <a:pPr algn="ctr" indent="0" marL="0">
              <a:buNone/>
            </a:pPr>
            <a:r>
              <a:rPr lang="en-US" sz="1300" b="1" dirty="0">
                <a:solidFill>
                  <a:srgbClr val="071E5E"/>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243584" y="3401568"/>
            <a:ext cx="2926080" cy="2560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Role</a:t>
            </a:r>
            <a:endParaRPr lang="en-US" sz="1400" dirty="0"/>
          </a:p>
        </p:txBody>
      </p:sp>
      <p:sp>
        <p:nvSpPr>
          <p:cNvPr id="20" name="Text 18"/>
          <p:cNvSpPr/>
          <p:nvPr/>
        </p:nvSpPr>
        <p:spPr>
          <a:xfrm>
            <a:off x="4572000" y="3419856"/>
            <a:ext cx="1700784" cy="219456"/>
          </a:xfrm>
          <a:prstGeom prst="rect">
            <a:avLst/>
          </a:prstGeom>
          <a:noFill/>
          <a:ln/>
        </p:spPr>
        <p:txBody>
          <a:bodyPr wrap="square" lIns="0" tIns="0" rIns="0" bIns="0" rtlCol="0" anchor="ctr"/>
          <a:lstStyle/>
          <a:p>
            <a:pPr algn="r" indent="0" marL="0">
              <a:buNone/>
            </a:pPr>
            <a:r>
              <a:rPr lang="en-US" sz="950" dirty="0">
                <a:solidFill>
                  <a:srgbClr val="CFDCFA"/>
                </a:solidFill>
                <a:latin typeface="Calibri" pitchFamily="34" charset="0"/>
                <a:ea typeface="Calibri" pitchFamily="34" charset="-122"/>
                <a:cs typeface="Calibri" pitchFamily="34" charset="-120"/>
              </a:rPr>
              <a:t>Client</a:t>
            </a:r>
            <a:endParaRPr lang="en-US" sz="950" dirty="0"/>
          </a:p>
        </p:txBody>
      </p:sp>
      <p:sp>
        <p:nvSpPr>
          <p:cNvPr id="21" name="Text 19"/>
          <p:cNvSpPr/>
          <p:nvPr/>
        </p:nvSpPr>
        <p:spPr>
          <a:xfrm>
            <a:off x="1243584" y="3675888"/>
            <a:ext cx="5029200" cy="384048"/>
          </a:xfrm>
          <a:prstGeom prst="rect">
            <a:avLst/>
          </a:prstGeom>
          <a:noFill/>
          <a:ln/>
        </p:spPr>
        <p:txBody>
          <a:bodyPr wrap="square" lIns="0" tIns="0" rIns="0" bIns="0" rtlCol="0" anchor="ctr"/>
          <a:lstStyle/>
          <a:p>
            <a:pPr indent="0" marL="0">
              <a:buNone/>
            </a:pPr>
            <a:r>
              <a:rPr lang="en-US" sz="1050" dirty="0">
                <a:solidFill>
                  <a:srgbClr val="CFDCFA"/>
                </a:solidFill>
                <a:latin typeface="Calibri" pitchFamily="34" charset="0"/>
                <a:ea typeface="Calibri" pitchFamily="34" charset="-122"/>
                <a:cs typeface="Calibri" pitchFamily="34" charset="-120"/>
              </a:rPr>
              <a:t>The client's name for a job. Two roles may hold one set and stay distinct in the audit trail.</a:t>
            </a:r>
            <a:endParaRPr lang="en-US" sz="1050" dirty="0"/>
          </a:p>
        </p:txBody>
      </p:sp>
      <p:sp>
        <p:nvSpPr>
          <p:cNvPr id="22" name="Shape 20"/>
          <p:cNvSpPr/>
          <p:nvPr/>
        </p:nvSpPr>
        <p:spPr>
          <a:xfrm>
            <a:off x="548640" y="4206240"/>
            <a:ext cx="5943600" cy="841248"/>
          </a:xfrm>
          <a:prstGeom prst="roundRect">
            <a:avLst>
              <a:gd name="adj" fmla="val 8696"/>
            </a:avLst>
          </a:prstGeom>
          <a:solidFill>
            <a:srgbClr val="13286B"/>
          </a:solidFill>
          <a:ln w="9525">
            <a:solidFill>
              <a:srgbClr val="1E3A8F"/>
            </a:solidFill>
            <a:prstDash val="solid"/>
          </a:ln>
        </p:spPr>
      </p:sp>
      <p:sp>
        <p:nvSpPr>
          <p:cNvPr id="23" name="Shape 21"/>
          <p:cNvSpPr/>
          <p:nvPr/>
        </p:nvSpPr>
        <p:spPr>
          <a:xfrm>
            <a:off x="749808" y="4443984"/>
            <a:ext cx="365760" cy="365760"/>
          </a:xfrm>
          <a:prstGeom prst="ellipse">
            <a:avLst/>
          </a:prstGeom>
          <a:solidFill>
            <a:srgbClr val="CFDCFA"/>
          </a:solidFill>
          <a:ln w="12700">
            <a:solidFill>
              <a:srgbClr val="CFDCFA"/>
            </a:solidFill>
            <a:prstDash val="solid"/>
          </a:ln>
        </p:spPr>
      </p:sp>
      <p:sp>
        <p:nvSpPr>
          <p:cNvPr id="24" name="Text 22"/>
          <p:cNvSpPr/>
          <p:nvPr/>
        </p:nvSpPr>
        <p:spPr>
          <a:xfrm>
            <a:off x="749808" y="4443984"/>
            <a:ext cx="365760" cy="365760"/>
          </a:xfrm>
          <a:prstGeom prst="rect">
            <a:avLst/>
          </a:prstGeom>
          <a:noFill/>
          <a:ln/>
        </p:spPr>
        <p:txBody>
          <a:bodyPr wrap="square" lIns="0" tIns="0" rIns="0" bIns="0" rtlCol="0" anchor="ctr"/>
          <a:lstStyle/>
          <a:p>
            <a:pPr algn="ctr" indent="0" marL="0">
              <a:buNone/>
            </a:pPr>
            <a:r>
              <a:rPr lang="en-US" sz="1300" b="1" dirty="0">
                <a:solidFill>
                  <a:srgbClr val="071E5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1243584" y="4315968"/>
            <a:ext cx="2926080" cy="2560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Group</a:t>
            </a:r>
            <a:endParaRPr lang="en-US" sz="1400" dirty="0"/>
          </a:p>
        </p:txBody>
      </p:sp>
      <p:sp>
        <p:nvSpPr>
          <p:cNvPr id="26" name="Text 24"/>
          <p:cNvSpPr/>
          <p:nvPr/>
        </p:nvSpPr>
        <p:spPr>
          <a:xfrm>
            <a:off x="4572000" y="4334256"/>
            <a:ext cx="1700784" cy="219456"/>
          </a:xfrm>
          <a:prstGeom prst="rect">
            <a:avLst/>
          </a:prstGeom>
          <a:noFill/>
          <a:ln/>
        </p:spPr>
        <p:txBody>
          <a:bodyPr wrap="square" lIns="0" tIns="0" rIns="0" bIns="0" rtlCol="0" anchor="ctr"/>
          <a:lstStyle/>
          <a:p>
            <a:pPr algn="r" indent="0" marL="0">
              <a:buNone/>
            </a:pPr>
            <a:r>
              <a:rPr lang="en-US" sz="950" dirty="0">
                <a:solidFill>
                  <a:srgbClr val="CFDCFA"/>
                </a:solidFill>
                <a:latin typeface="Calibri" pitchFamily="34" charset="0"/>
                <a:ea typeface="Calibri" pitchFamily="34" charset="-122"/>
                <a:cs typeface="Calibri" pitchFamily="34" charset="-120"/>
              </a:rPr>
              <a:t>Client</a:t>
            </a:r>
            <a:endParaRPr lang="en-US" sz="950" dirty="0"/>
          </a:p>
        </p:txBody>
      </p:sp>
      <p:sp>
        <p:nvSpPr>
          <p:cNvPr id="27" name="Text 25"/>
          <p:cNvSpPr/>
          <p:nvPr/>
        </p:nvSpPr>
        <p:spPr>
          <a:xfrm>
            <a:off x="1243584" y="4590288"/>
            <a:ext cx="5029200" cy="384048"/>
          </a:xfrm>
          <a:prstGeom prst="rect">
            <a:avLst/>
          </a:prstGeom>
          <a:noFill/>
          <a:ln/>
        </p:spPr>
        <p:txBody>
          <a:bodyPr wrap="square" lIns="0" tIns="0" rIns="0" bIns="0" rtlCol="0" anchor="ctr"/>
          <a:lstStyle/>
          <a:p>
            <a:pPr indent="0" marL="0">
              <a:buNone/>
            </a:pPr>
            <a:r>
              <a:rPr lang="en-US" sz="1050" dirty="0">
                <a:solidFill>
                  <a:srgbClr val="CFDCFA"/>
                </a:solidFill>
                <a:latin typeface="Calibri" pitchFamily="34" charset="0"/>
                <a:ea typeface="Calibri" pitchFamily="34" charset="-122"/>
                <a:cs typeface="Calibri" pitchFamily="34" charset="-120"/>
              </a:rPr>
              <a:t>Grants roles, holds users, carries the account scope. The only layer where all three meet.</a:t>
            </a:r>
            <a:endParaRPr lang="en-US" sz="1050" dirty="0"/>
          </a:p>
        </p:txBody>
      </p:sp>
      <p:sp>
        <p:nvSpPr>
          <p:cNvPr id="28" name="Shape 26"/>
          <p:cNvSpPr/>
          <p:nvPr/>
        </p:nvSpPr>
        <p:spPr>
          <a:xfrm>
            <a:off x="548640" y="5120640"/>
            <a:ext cx="5943600" cy="841248"/>
          </a:xfrm>
          <a:prstGeom prst="roundRect">
            <a:avLst>
              <a:gd name="adj" fmla="val 8696"/>
            </a:avLst>
          </a:prstGeom>
          <a:solidFill>
            <a:srgbClr val="13286B"/>
          </a:solidFill>
          <a:ln w="9525">
            <a:solidFill>
              <a:srgbClr val="1E3A8F"/>
            </a:solidFill>
            <a:prstDash val="solid"/>
          </a:ln>
        </p:spPr>
      </p:sp>
      <p:sp>
        <p:nvSpPr>
          <p:cNvPr id="29" name="Shape 27"/>
          <p:cNvSpPr/>
          <p:nvPr/>
        </p:nvSpPr>
        <p:spPr>
          <a:xfrm>
            <a:off x="749808" y="5358384"/>
            <a:ext cx="365760" cy="365760"/>
          </a:xfrm>
          <a:prstGeom prst="ellipse">
            <a:avLst/>
          </a:prstGeom>
          <a:solidFill>
            <a:srgbClr val="CFDCFA"/>
          </a:solidFill>
          <a:ln w="12700">
            <a:solidFill>
              <a:srgbClr val="CFDCFA"/>
            </a:solidFill>
            <a:prstDash val="solid"/>
          </a:ln>
        </p:spPr>
      </p:sp>
      <p:sp>
        <p:nvSpPr>
          <p:cNvPr id="30" name="Text 28"/>
          <p:cNvSpPr/>
          <p:nvPr/>
        </p:nvSpPr>
        <p:spPr>
          <a:xfrm>
            <a:off x="749808" y="5358384"/>
            <a:ext cx="365760" cy="365760"/>
          </a:xfrm>
          <a:prstGeom prst="rect">
            <a:avLst/>
          </a:prstGeom>
          <a:noFill/>
          <a:ln/>
        </p:spPr>
        <p:txBody>
          <a:bodyPr wrap="square" lIns="0" tIns="0" rIns="0" bIns="0" rtlCol="0" anchor="ctr"/>
          <a:lstStyle/>
          <a:p>
            <a:pPr algn="ctr" indent="0" marL="0">
              <a:buNone/>
            </a:pPr>
            <a:r>
              <a:rPr lang="en-US" sz="1300" b="1" dirty="0">
                <a:solidFill>
                  <a:srgbClr val="071E5E"/>
                </a:solidFill>
                <a:latin typeface="Calibri" pitchFamily="34" charset="0"/>
                <a:ea typeface="Calibri" pitchFamily="34" charset="-122"/>
                <a:cs typeface="Calibri" pitchFamily="34" charset="-120"/>
              </a:rPr>
              <a:t>5</a:t>
            </a:r>
            <a:endParaRPr lang="en-US" sz="1300" dirty="0"/>
          </a:p>
        </p:txBody>
      </p:sp>
      <p:sp>
        <p:nvSpPr>
          <p:cNvPr id="31" name="Text 29"/>
          <p:cNvSpPr/>
          <p:nvPr/>
        </p:nvSpPr>
        <p:spPr>
          <a:xfrm>
            <a:off x="1243584" y="5230368"/>
            <a:ext cx="2926080" cy="2560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User</a:t>
            </a:r>
            <a:endParaRPr lang="en-US" sz="1400" dirty="0"/>
          </a:p>
        </p:txBody>
      </p:sp>
      <p:sp>
        <p:nvSpPr>
          <p:cNvPr id="32" name="Text 30"/>
          <p:cNvSpPr/>
          <p:nvPr/>
        </p:nvSpPr>
        <p:spPr>
          <a:xfrm>
            <a:off x="4572000" y="5248656"/>
            <a:ext cx="1700784" cy="219456"/>
          </a:xfrm>
          <a:prstGeom prst="rect">
            <a:avLst/>
          </a:prstGeom>
          <a:noFill/>
          <a:ln/>
        </p:spPr>
        <p:txBody>
          <a:bodyPr wrap="square" lIns="0" tIns="0" rIns="0" bIns="0" rtlCol="0" anchor="ctr"/>
          <a:lstStyle/>
          <a:p>
            <a:pPr algn="r" indent="0" marL="0">
              <a:buNone/>
            </a:pPr>
            <a:r>
              <a:rPr lang="en-US" sz="950" dirty="0">
                <a:solidFill>
                  <a:srgbClr val="CFDCFA"/>
                </a:solidFill>
                <a:latin typeface="Calibri" pitchFamily="34" charset="0"/>
                <a:ea typeface="Calibri" pitchFamily="34" charset="-122"/>
                <a:cs typeface="Calibri" pitchFamily="34" charset="-120"/>
              </a:rPr>
              <a:t>Client</a:t>
            </a:r>
            <a:endParaRPr lang="en-US" sz="950" dirty="0"/>
          </a:p>
        </p:txBody>
      </p:sp>
      <p:sp>
        <p:nvSpPr>
          <p:cNvPr id="33" name="Text 31"/>
          <p:cNvSpPr/>
          <p:nvPr/>
        </p:nvSpPr>
        <p:spPr>
          <a:xfrm>
            <a:off x="1243584" y="5504688"/>
            <a:ext cx="5029200" cy="384048"/>
          </a:xfrm>
          <a:prstGeom prst="rect">
            <a:avLst/>
          </a:prstGeom>
          <a:noFill/>
          <a:ln/>
        </p:spPr>
        <p:txBody>
          <a:bodyPr wrap="square" lIns="0" tIns="0" rIns="0" bIns="0" rtlCol="0" anchor="ctr"/>
          <a:lstStyle/>
          <a:p>
            <a:pPr indent="0" marL="0">
              <a:buNone/>
            </a:pPr>
            <a:r>
              <a:rPr lang="en-US" sz="1050" dirty="0">
                <a:solidFill>
                  <a:srgbClr val="CFDCFA"/>
                </a:solidFill>
                <a:latin typeface="Calibri" pitchFamily="34" charset="0"/>
                <a:ea typeface="Calibri" pitchFamily="34" charset="-122"/>
                <a:cs typeface="Calibri" pitchFamily="34" charset="-120"/>
              </a:rPr>
              <a:t>Belongs to one or more groups. Holds no permission of their own.</a:t>
            </a:r>
            <a:endParaRPr lang="en-US" sz="1050" dirty="0"/>
          </a:p>
        </p:txBody>
      </p:sp>
      <p:sp>
        <p:nvSpPr>
          <p:cNvPr id="34" name="Shape 32"/>
          <p:cNvSpPr/>
          <p:nvPr/>
        </p:nvSpPr>
        <p:spPr>
          <a:xfrm>
            <a:off x="6720840" y="1463040"/>
            <a:ext cx="4892040" cy="1883664"/>
          </a:xfrm>
          <a:prstGeom prst="roundRect">
            <a:avLst>
              <a:gd name="adj" fmla="val 3883"/>
            </a:avLst>
          </a:prstGeom>
          <a:solidFill>
            <a:srgbClr val="13286B"/>
          </a:solidFill>
          <a:ln w="9525">
            <a:solidFill>
              <a:srgbClr val="1E3A8F"/>
            </a:solidFill>
            <a:prstDash val="solid"/>
          </a:ln>
        </p:spPr>
      </p:sp>
      <p:sp>
        <p:nvSpPr>
          <p:cNvPr id="35" name="Text 33"/>
          <p:cNvSpPr/>
          <p:nvPr/>
        </p:nvSpPr>
        <p:spPr>
          <a:xfrm>
            <a:off x="6931152" y="1609344"/>
            <a:ext cx="44805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Each layer changes at a different time</a:t>
            </a:r>
            <a:endParaRPr lang="en-US" sz="1300" dirty="0"/>
          </a:p>
        </p:txBody>
      </p:sp>
      <p:sp>
        <p:nvSpPr>
          <p:cNvPr id="36" name="Text 34"/>
          <p:cNvSpPr/>
          <p:nvPr/>
        </p:nvSpPr>
        <p:spPr>
          <a:xfrm>
            <a:off x="6931152" y="1938528"/>
            <a:ext cx="1325880" cy="23774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Permission</a:t>
            </a:r>
            <a:endParaRPr lang="en-US" sz="1050" dirty="0"/>
          </a:p>
        </p:txBody>
      </p:sp>
      <p:sp>
        <p:nvSpPr>
          <p:cNvPr id="37" name="Text 35"/>
          <p:cNvSpPr/>
          <p:nvPr/>
        </p:nvSpPr>
        <p:spPr>
          <a:xfrm>
            <a:off x="8321040" y="1938528"/>
            <a:ext cx="3108960" cy="237744"/>
          </a:xfrm>
          <a:prstGeom prst="rect">
            <a:avLst/>
          </a:prstGeom>
          <a:noFill/>
          <a:ln/>
        </p:spPr>
        <p:txBody>
          <a:bodyPr wrap="square" lIns="0" tIns="0" rIns="0" bIns="0" rtlCol="0" anchor="ctr"/>
          <a:lstStyle/>
          <a:p>
            <a:pPr indent="0" marL="0">
              <a:buNone/>
            </a:pPr>
            <a:r>
              <a:rPr lang="en-US" sz="1050" dirty="0">
                <a:solidFill>
                  <a:srgbClr val="CFDCFA"/>
                </a:solidFill>
                <a:latin typeface="Calibri" pitchFamily="34" charset="0"/>
                <a:ea typeface="Calibri" pitchFamily="34" charset="-122"/>
                <a:cs typeface="Calibri" pitchFamily="34" charset="-120"/>
              </a:rPr>
              <a:t>Acme ships an endpoint</a:t>
            </a:r>
            <a:endParaRPr lang="en-US" sz="1050" dirty="0"/>
          </a:p>
        </p:txBody>
      </p:sp>
      <p:sp>
        <p:nvSpPr>
          <p:cNvPr id="38" name="Text 36"/>
          <p:cNvSpPr/>
          <p:nvPr/>
        </p:nvSpPr>
        <p:spPr>
          <a:xfrm>
            <a:off x="6931152" y="2258568"/>
            <a:ext cx="1325880" cy="23774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Permission Set</a:t>
            </a:r>
            <a:endParaRPr lang="en-US" sz="1050" dirty="0"/>
          </a:p>
        </p:txBody>
      </p:sp>
      <p:sp>
        <p:nvSpPr>
          <p:cNvPr id="39" name="Text 37"/>
          <p:cNvSpPr/>
          <p:nvPr/>
        </p:nvSpPr>
        <p:spPr>
          <a:xfrm>
            <a:off x="8321040" y="2258568"/>
            <a:ext cx="3108960" cy="237744"/>
          </a:xfrm>
          <a:prstGeom prst="rect">
            <a:avLst/>
          </a:prstGeom>
          <a:noFill/>
          <a:ln/>
        </p:spPr>
        <p:txBody>
          <a:bodyPr wrap="square" lIns="0" tIns="0" rIns="0" bIns="0" rtlCol="0" anchor="ctr"/>
          <a:lstStyle/>
          <a:p>
            <a:pPr indent="0" marL="0">
              <a:buNone/>
            </a:pPr>
            <a:r>
              <a:rPr lang="en-US" sz="1050" dirty="0">
                <a:solidFill>
                  <a:srgbClr val="CFDCFA"/>
                </a:solidFill>
                <a:latin typeface="Calibri" pitchFamily="34" charset="0"/>
                <a:ea typeface="Calibri" pitchFamily="34" charset="-122"/>
                <a:cs typeface="Calibri" pitchFamily="34" charset="-120"/>
              </a:rPr>
              <a:t>Acme bundles what only works together</a:t>
            </a:r>
            <a:endParaRPr lang="en-US" sz="1050" dirty="0"/>
          </a:p>
        </p:txBody>
      </p:sp>
      <p:sp>
        <p:nvSpPr>
          <p:cNvPr id="40" name="Text 38"/>
          <p:cNvSpPr/>
          <p:nvPr/>
        </p:nvSpPr>
        <p:spPr>
          <a:xfrm>
            <a:off x="6931152" y="2578608"/>
            <a:ext cx="1325880" cy="23774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Role</a:t>
            </a:r>
            <a:endParaRPr lang="en-US" sz="1050" dirty="0"/>
          </a:p>
        </p:txBody>
      </p:sp>
      <p:sp>
        <p:nvSpPr>
          <p:cNvPr id="41" name="Text 39"/>
          <p:cNvSpPr/>
          <p:nvPr/>
        </p:nvSpPr>
        <p:spPr>
          <a:xfrm>
            <a:off x="8321040" y="2578608"/>
            <a:ext cx="3108960" cy="237744"/>
          </a:xfrm>
          <a:prstGeom prst="rect">
            <a:avLst/>
          </a:prstGeom>
          <a:noFill/>
          <a:ln/>
        </p:spPr>
        <p:txBody>
          <a:bodyPr wrap="square" lIns="0" tIns="0" rIns="0" bIns="0" rtlCol="0" anchor="ctr"/>
          <a:lstStyle/>
          <a:p>
            <a:pPr indent="0" marL="0">
              <a:buNone/>
            </a:pPr>
            <a:r>
              <a:rPr lang="en-US" sz="1050" dirty="0">
                <a:solidFill>
                  <a:srgbClr val="CFDCFA"/>
                </a:solidFill>
                <a:latin typeface="Calibri" pitchFamily="34" charset="0"/>
                <a:ea typeface="Calibri" pitchFamily="34" charset="-122"/>
                <a:cs typeface="Calibri" pitchFamily="34" charset="-120"/>
              </a:rPr>
              <a:t>The client reorganizes</a:t>
            </a:r>
            <a:endParaRPr lang="en-US" sz="1050" dirty="0"/>
          </a:p>
        </p:txBody>
      </p:sp>
      <p:sp>
        <p:nvSpPr>
          <p:cNvPr id="42" name="Text 40"/>
          <p:cNvSpPr/>
          <p:nvPr/>
        </p:nvSpPr>
        <p:spPr>
          <a:xfrm>
            <a:off x="6931152" y="2898648"/>
            <a:ext cx="1325880" cy="23774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Group</a:t>
            </a:r>
            <a:endParaRPr lang="en-US" sz="1050" dirty="0"/>
          </a:p>
        </p:txBody>
      </p:sp>
      <p:sp>
        <p:nvSpPr>
          <p:cNvPr id="43" name="Text 41"/>
          <p:cNvSpPr/>
          <p:nvPr/>
        </p:nvSpPr>
        <p:spPr>
          <a:xfrm>
            <a:off x="8321040" y="2898648"/>
            <a:ext cx="3108960" cy="237744"/>
          </a:xfrm>
          <a:prstGeom prst="rect">
            <a:avLst/>
          </a:prstGeom>
          <a:noFill/>
          <a:ln/>
        </p:spPr>
        <p:txBody>
          <a:bodyPr wrap="square" lIns="0" tIns="0" rIns="0" bIns="0" rtlCol="0" anchor="ctr"/>
          <a:lstStyle/>
          <a:p>
            <a:pPr indent="0" marL="0">
              <a:buNone/>
            </a:pPr>
            <a:r>
              <a:rPr lang="en-US" sz="1050" dirty="0">
                <a:solidFill>
                  <a:srgbClr val="CFDCFA"/>
                </a:solidFill>
                <a:latin typeface="Calibri" pitchFamily="34" charset="0"/>
                <a:ea typeface="Calibri" pitchFamily="34" charset="-122"/>
                <a:cs typeface="Calibri" pitchFamily="34" charset="-120"/>
              </a:rPr>
              <a:t>People join or leave, or accounts are added</a:t>
            </a:r>
            <a:endParaRPr lang="en-US" sz="1050" dirty="0"/>
          </a:p>
        </p:txBody>
      </p:sp>
      <p:sp>
        <p:nvSpPr>
          <p:cNvPr id="44" name="Shape 42"/>
          <p:cNvSpPr/>
          <p:nvPr/>
        </p:nvSpPr>
        <p:spPr>
          <a:xfrm>
            <a:off x="6720840" y="3493008"/>
            <a:ext cx="4892040" cy="2139696"/>
          </a:xfrm>
          <a:prstGeom prst="roundRect">
            <a:avLst>
              <a:gd name="adj" fmla="val 3419"/>
            </a:avLst>
          </a:prstGeom>
          <a:solidFill>
            <a:srgbClr val="13286B"/>
          </a:solidFill>
          <a:ln w="9525">
            <a:solidFill>
              <a:srgbClr val="1E3A8F"/>
            </a:solidFill>
            <a:prstDash val="solid"/>
          </a:ln>
        </p:spPr>
      </p:sp>
      <p:sp>
        <p:nvSpPr>
          <p:cNvPr id="45" name="Text 43"/>
          <p:cNvSpPr/>
          <p:nvPr/>
        </p:nvSpPr>
        <p:spPr>
          <a:xfrm>
            <a:off x="6931152" y="3639312"/>
            <a:ext cx="44805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layers pay for themselves in edits</a:t>
            </a:r>
            <a:endParaRPr lang="en-US" sz="1300" dirty="0"/>
          </a:p>
        </p:txBody>
      </p:sp>
      <p:sp>
        <p:nvSpPr>
          <p:cNvPr id="46" name="Shape 44"/>
          <p:cNvSpPr/>
          <p:nvPr/>
        </p:nvSpPr>
        <p:spPr>
          <a:xfrm>
            <a:off x="6931152" y="3968496"/>
            <a:ext cx="566928" cy="219456"/>
          </a:xfrm>
          <a:prstGeom prst="roundRect">
            <a:avLst>
              <a:gd name="adj" fmla="val 16667"/>
            </a:avLst>
          </a:prstGeom>
          <a:solidFill>
            <a:srgbClr val="CFDCFA"/>
          </a:solidFill>
          <a:ln w="12700">
            <a:solidFill>
              <a:srgbClr val="CFDCFA"/>
            </a:solidFill>
            <a:prstDash val="solid"/>
          </a:ln>
        </p:spPr>
      </p:sp>
      <p:sp>
        <p:nvSpPr>
          <p:cNvPr id="47" name="Text 45"/>
          <p:cNvSpPr/>
          <p:nvPr/>
        </p:nvSpPr>
        <p:spPr>
          <a:xfrm>
            <a:off x="6931152" y="3968496"/>
            <a:ext cx="566928" cy="219456"/>
          </a:xfrm>
          <a:prstGeom prst="rect">
            <a:avLst/>
          </a:prstGeom>
          <a:noFill/>
          <a:ln/>
        </p:spPr>
        <p:txBody>
          <a:bodyPr wrap="square" lIns="0" tIns="0" rIns="0" bIns="0" rtlCol="0" anchor="ctr"/>
          <a:lstStyle/>
          <a:p>
            <a:pPr algn="ctr" indent="0" marL="0">
              <a:buNone/>
            </a:pPr>
            <a:r>
              <a:rPr lang="en-US" sz="850" b="1" dirty="0">
                <a:solidFill>
                  <a:srgbClr val="071E5E"/>
                </a:solidFill>
                <a:latin typeface="Calibri" pitchFamily="34" charset="0"/>
                <a:ea typeface="Calibri" pitchFamily="34" charset="-122"/>
                <a:cs typeface="Calibri" pitchFamily="34" charset="-120"/>
              </a:rPr>
              <a:t>1 edit</a:t>
            </a:r>
            <a:endParaRPr lang="en-US" sz="850" dirty="0"/>
          </a:p>
        </p:txBody>
      </p:sp>
      <p:sp>
        <p:nvSpPr>
          <p:cNvPr id="48" name="Text 46"/>
          <p:cNvSpPr/>
          <p:nvPr/>
        </p:nvSpPr>
        <p:spPr>
          <a:xfrm>
            <a:off x="7589520" y="3931920"/>
            <a:ext cx="3840480" cy="384048"/>
          </a:xfrm>
          <a:prstGeom prst="rect">
            <a:avLst/>
          </a:prstGeom>
          <a:noFill/>
          <a:ln/>
        </p:spPr>
        <p:txBody>
          <a:bodyPr wrap="square" lIns="0" tIns="0" rIns="0" bIns="0" rtlCol="0" anchor="ctr"/>
          <a:lstStyle/>
          <a:p>
            <a:pPr indent="0" marL="0">
              <a:buNone/>
            </a:pPr>
            <a:r>
              <a:rPr lang="en-US" sz="1000" dirty="0">
                <a:solidFill>
                  <a:srgbClr val="CFDCFA"/>
                </a:solidFill>
                <a:latin typeface="Calibri" pitchFamily="34" charset="0"/>
                <a:ea typeface="Calibri" pitchFamily="34" charset="-122"/>
                <a:cs typeface="Calibri" pitchFamily="34" charset="-120"/>
              </a:rPr>
              <a:t>Acme ships cancel-payment. Add it to the Payments set and every holder inherits it.</a:t>
            </a:r>
            <a:endParaRPr lang="en-US" sz="1000" dirty="0"/>
          </a:p>
        </p:txBody>
      </p:sp>
      <p:sp>
        <p:nvSpPr>
          <p:cNvPr id="49" name="Shape 47"/>
          <p:cNvSpPr/>
          <p:nvPr/>
        </p:nvSpPr>
        <p:spPr>
          <a:xfrm>
            <a:off x="6931152" y="4398264"/>
            <a:ext cx="566928" cy="219456"/>
          </a:xfrm>
          <a:prstGeom prst="roundRect">
            <a:avLst>
              <a:gd name="adj" fmla="val 16667"/>
            </a:avLst>
          </a:prstGeom>
          <a:solidFill>
            <a:srgbClr val="CFDCFA"/>
          </a:solidFill>
          <a:ln w="12700">
            <a:solidFill>
              <a:srgbClr val="CFDCFA"/>
            </a:solidFill>
            <a:prstDash val="solid"/>
          </a:ln>
        </p:spPr>
      </p:sp>
      <p:sp>
        <p:nvSpPr>
          <p:cNvPr id="50" name="Text 48"/>
          <p:cNvSpPr/>
          <p:nvPr/>
        </p:nvSpPr>
        <p:spPr>
          <a:xfrm>
            <a:off x="6931152" y="4398264"/>
            <a:ext cx="566928" cy="219456"/>
          </a:xfrm>
          <a:prstGeom prst="rect">
            <a:avLst/>
          </a:prstGeom>
          <a:noFill/>
          <a:ln/>
        </p:spPr>
        <p:txBody>
          <a:bodyPr wrap="square" lIns="0" tIns="0" rIns="0" bIns="0" rtlCol="0" anchor="ctr"/>
          <a:lstStyle/>
          <a:p>
            <a:pPr algn="ctr" indent="0" marL="0">
              <a:buNone/>
            </a:pPr>
            <a:r>
              <a:rPr lang="en-US" sz="850" b="1" dirty="0">
                <a:solidFill>
                  <a:srgbClr val="071E5E"/>
                </a:solidFill>
                <a:latin typeface="Calibri" pitchFamily="34" charset="0"/>
                <a:ea typeface="Calibri" pitchFamily="34" charset="-122"/>
                <a:cs typeface="Calibri" pitchFamily="34" charset="-120"/>
              </a:rPr>
              <a:t>1 edit</a:t>
            </a:r>
            <a:endParaRPr lang="en-US" sz="850" dirty="0"/>
          </a:p>
        </p:txBody>
      </p:sp>
      <p:sp>
        <p:nvSpPr>
          <p:cNvPr id="51" name="Text 49"/>
          <p:cNvSpPr/>
          <p:nvPr/>
        </p:nvSpPr>
        <p:spPr>
          <a:xfrm>
            <a:off x="7589520" y="4361688"/>
            <a:ext cx="3840480" cy="384048"/>
          </a:xfrm>
          <a:prstGeom prst="rect">
            <a:avLst/>
          </a:prstGeom>
          <a:noFill/>
          <a:ln/>
        </p:spPr>
        <p:txBody>
          <a:bodyPr wrap="square" lIns="0" tIns="0" rIns="0" bIns="0" rtlCol="0" anchor="ctr"/>
          <a:lstStyle/>
          <a:p>
            <a:pPr indent="0" marL="0">
              <a:buNone/>
            </a:pPr>
            <a:r>
              <a:rPr lang="en-US" sz="1000" dirty="0">
                <a:solidFill>
                  <a:srgbClr val="CFDCFA"/>
                </a:solidFill>
                <a:latin typeface="Calibri" pitchFamily="34" charset="0"/>
                <a:ea typeface="Calibri" pitchFamily="34" charset="-122"/>
                <a:cs typeface="Calibri" pitchFamily="34" charset="-120"/>
              </a:rPr>
              <a:t>Payment Operations is renamed. Rename the role, touch no permissions.</a:t>
            </a:r>
            <a:endParaRPr lang="en-US" sz="1000" dirty="0"/>
          </a:p>
        </p:txBody>
      </p:sp>
      <p:sp>
        <p:nvSpPr>
          <p:cNvPr id="52" name="Shape 50"/>
          <p:cNvSpPr/>
          <p:nvPr/>
        </p:nvSpPr>
        <p:spPr>
          <a:xfrm>
            <a:off x="6931152" y="4828032"/>
            <a:ext cx="566928" cy="219456"/>
          </a:xfrm>
          <a:prstGeom prst="roundRect">
            <a:avLst>
              <a:gd name="adj" fmla="val 16667"/>
            </a:avLst>
          </a:prstGeom>
          <a:solidFill>
            <a:srgbClr val="CFDCFA"/>
          </a:solidFill>
          <a:ln w="12700">
            <a:solidFill>
              <a:srgbClr val="CFDCFA"/>
            </a:solidFill>
            <a:prstDash val="solid"/>
          </a:ln>
        </p:spPr>
      </p:sp>
      <p:sp>
        <p:nvSpPr>
          <p:cNvPr id="53" name="Text 51"/>
          <p:cNvSpPr/>
          <p:nvPr/>
        </p:nvSpPr>
        <p:spPr>
          <a:xfrm>
            <a:off x="6931152" y="4828032"/>
            <a:ext cx="566928" cy="219456"/>
          </a:xfrm>
          <a:prstGeom prst="rect">
            <a:avLst/>
          </a:prstGeom>
          <a:noFill/>
          <a:ln/>
        </p:spPr>
        <p:txBody>
          <a:bodyPr wrap="square" lIns="0" tIns="0" rIns="0" bIns="0" rtlCol="0" anchor="ctr"/>
          <a:lstStyle/>
          <a:p>
            <a:pPr algn="ctr" indent="0" marL="0">
              <a:buNone/>
            </a:pPr>
            <a:r>
              <a:rPr lang="en-US" sz="850" b="1" dirty="0">
                <a:solidFill>
                  <a:srgbClr val="071E5E"/>
                </a:solidFill>
                <a:latin typeface="Calibri" pitchFamily="34" charset="0"/>
                <a:ea typeface="Calibri" pitchFamily="34" charset="-122"/>
                <a:cs typeface="Calibri" pitchFamily="34" charset="-120"/>
              </a:rPr>
              <a:t>0 edits</a:t>
            </a:r>
            <a:endParaRPr lang="en-US" sz="850" dirty="0"/>
          </a:p>
        </p:txBody>
      </p:sp>
      <p:sp>
        <p:nvSpPr>
          <p:cNvPr id="54" name="Text 52"/>
          <p:cNvSpPr/>
          <p:nvPr/>
        </p:nvSpPr>
        <p:spPr>
          <a:xfrm>
            <a:off x="7589520" y="4791456"/>
            <a:ext cx="3840480" cy="384048"/>
          </a:xfrm>
          <a:prstGeom prst="rect">
            <a:avLst/>
          </a:prstGeom>
          <a:noFill/>
          <a:ln/>
        </p:spPr>
        <p:txBody>
          <a:bodyPr wrap="square" lIns="0" tIns="0" rIns="0" bIns="0" rtlCol="0" anchor="ctr"/>
          <a:lstStyle/>
          <a:p>
            <a:pPr indent="0" marL="0">
              <a:buNone/>
            </a:pPr>
            <a:r>
              <a:rPr lang="en-US" sz="1000" dirty="0">
                <a:solidFill>
                  <a:srgbClr val="CFDCFA"/>
                </a:solidFill>
                <a:latin typeface="Calibri" pitchFamily="34" charset="0"/>
                <a:ea typeface="Calibri" pitchFamily="34" charset="-122"/>
                <a:cs typeface="Calibri" pitchFamily="34" charset="-120"/>
              </a:rPr>
              <a:t>Trading US opens another OTC account. The scope is a predicate, not a list.</a:t>
            </a:r>
            <a:endParaRPr lang="en-US" sz="1000" dirty="0"/>
          </a:p>
        </p:txBody>
      </p:sp>
      <p:sp>
        <p:nvSpPr>
          <p:cNvPr id="55" name="Shape 53"/>
          <p:cNvSpPr/>
          <p:nvPr/>
        </p:nvSpPr>
        <p:spPr>
          <a:xfrm>
            <a:off x="6931152" y="5257800"/>
            <a:ext cx="566928" cy="219456"/>
          </a:xfrm>
          <a:prstGeom prst="roundRect">
            <a:avLst>
              <a:gd name="adj" fmla="val 16667"/>
            </a:avLst>
          </a:prstGeom>
          <a:solidFill>
            <a:srgbClr val="CFDCFA"/>
          </a:solidFill>
          <a:ln w="12700">
            <a:solidFill>
              <a:srgbClr val="CFDCFA"/>
            </a:solidFill>
            <a:prstDash val="solid"/>
          </a:ln>
        </p:spPr>
      </p:sp>
      <p:sp>
        <p:nvSpPr>
          <p:cNvPr id="56" name="Text 54"/>
          <p:cNvSpPr/>
          <p:nvPr/>
        </p:nvSpPr>
        <p:spPr>
          <a:xfrm>
            <a:off x="6931152" y="5257800"/>
            <a:ext cx="566928" cy="219456"/>
          </a:xfrm>
          <a:prstGeom prst="rect">
            <a:avLst/>
          </a:prstGeom>
          <a:noFill/>
          <a:ln/>
        </p:spPr>
        <p:txBody>
          <a:bodyPr wrap="square" lIns="0" tIns="0" rIns="0" bIns="0" rtlCol="0" anchor="ctr"/>
          <a:lstStyle/>
          <a:p>
            <a:pPr algn="ctr" indent="0" marL="0">
              <a:buNone/>
            </a:pPr>
            <a:r>
              <a:rPr lang="en-US" sz="850" b="1" dirty="0">
                <a:solidFill>
                  <a:srgbClr val="071E5E"/>
                </a:solidFill>
                <a:latin typeface="Calibri" pitchFamily="34" charset="0"/>
                <a:ea typeface="Calibri" pitchFamily="34" charset="-122"/>
                <a:cs typeface="Calibri" pitchFamily="34" charset="-120"/>
              </a:rPr>
              <a:t>1 edit</a:t>
            </a:r>
            <a:endParaRPr lang="en-US" sz="850" dirty="0"/>
          </a:p>
        </p:txBody>
      </p:sp>
      <p:sp>
        <p:nvSpPr>
          <p:cNvPr id="57" name="Text 55"/>
          <p:cNvSpPr/>
          <p:nvPr/>
        </p:nvSpPr>
        <p:spPr>
          <a:xfrm>
            <a:off x="7589520" y="5221224"/>
            <a:ext cx="3840480" cy="384048"/>
          </a:xfrm>
          <a:prstGeom prst="rect">
            <a:avLst/>
          </a:prstGeom>
          <a:noFill/>
          <a:ln/>
        </p:spPr>
        <p:txBody>
          <a:bodyPr wrap="square" lIns="0" tIns="0" rIns="0" bIns="0" rtlCol="0" anchor="ctr"/>
          <a:lstStyle/>
          <a:p>
            <a:pPr indent="0" marL="0">
              <a:buNone/>
            </a:pPr>
            <a:r>
              <a:rPr lang="en-US" sz="1000" dirty="0">
                <a:solidFill>
                  <a:srgbClr val="CFDCFA"/>
                </a:solidFill>
                <a:latin typeface="Calibri" pitchFamily="34" charset="0"/>
                <a:ea typeface="Calibri" pitchFamily="34" charset="-122"/>
                <a:cs typeface="Calibri" pitchFamily="34" charset="-120"/>
              </a:rPr>
              <a:t>A new starter joins the recon team. Add them to the group.</a:t>
            </a:r>
            <a:endParaRPr lang="en-US" sz="1000" dirty="0"/>
          </a:p>
        </p:txBody>
      </p:sp>
      <p:sp>
        <p:nvSpPr>
          <p:cNvPr id="58" name="Text 56"/>
          <p:cNvSpPr/>
          <p:nvPr/>
        </p:nvSpPr>
        <p:spPr>
          <a:xfrm>
            <a:off x="548640" y="6144768"/>
            <a:ext cx="11064240" cy="274320"/>
          </a:xfrm>
          <a:prstGeom prst="rect">
            <a:avLst/>
          </a:prstGeom>
          <a:noFill/>
          <a:ln/>
        </p:spPr>
        <p:txBody>
          <a:bodyPr wrap="square" lIns="0" tIns="0" rIns="0" bIns="0" rtlCol="0" anchor="ctr"/>
          <a:lstStyle/>
          <a:p>
            <a:pPr indent="0" marL="0">
              <a:buNone/>
            </a:pPr>
            <a:r>
              <a:rPr lang="en-US" sz="1000" i="1" dirty="0">
                <a:solidFill>
                  <a:srgbClr val="CFDCFA"/>
                </a:solidFill>
                <a:latin typeface="Calibri" pitchFamily="34" charset="0"/>
                <a:ea typeface="Calibri" pitchFamily="34" charset="-122"/>
                <a:cs typeface="Calibri" pitchFamily="34" charset="-120"/>
              </a:rPr>
              <a:t>Collapse the Permission Set and clients assemble broken grants. Collapse the Role and two teams look identical in the audit trail. Collapse the Group and the scope has to live on the role.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548640"/>
          </a:xfrm>
          <a:prstGeom prst="rect">
            <a:avLst/>
          </a:prstGeom>
          <a:noFill/>
          <a:ln/>
        </p:spPr>
        <p:txBody>
          <a:bodyPr wrap="square" lIns="0" tIns="0" rIns="0" bIns="0" rtlCol="0" anchor="ctr"/>
          <a:lstStyle/>
          <a:p>
            <a:pPr indent="0" marL="0">
              <a:buNone/>
            </a:pPr>
            <a:r>
              <a:rPr lang="en-US" sz="3400" b="1" dirty="0">
                <a:solidFill>
                  <a:srgbClr val="0A3AB9"/>
                </a:solidFill>
                <a:latin typeface="Cambria" pitchFamily="34" charset="0"/>
                <a:ea typeface="Cambria" pitchFamily="34" charset="-122"/>
                <a:cs typeface="Cambria" pitchFamily="34" charset="-120"/>
              </a:rPr>
              <a:t>The account scope sits on the Group</a:t>
            </a:r>
            <a:endParaRPr lang="en-US" sz="3400" dirty="0"/>
          </a:p>
        </p:txBody>
      </p:sp>
      <p:sp>
        <p:nvSpPr>
          <p:cNvPr id="3" name="Text 1"/>
          <p:cNvSpPr/>
          <p:nvPr/>
        </p:nvSpPr>
        <p:spPr>
          <a:xfrm>
            <a:off x="548640" y="914400"/>
            <a:ext cx="10607040" cy="274320"/>
          </a:xfrm>
          <a:prstGeom prst="rect">
            <a:avLst/>
          </a:prstGeom>
          <a:noFill/>
          <a:ln/>
        </p:spPr>
        <p:txBody>
          <a:bodyPr wrap="square" lIns="0" tIns="0" rIns="0" bIns="0" rtlCol="0" anchor="ctr"/>
          <a:lstStyle/>
          <a:p>
            <a:pPr indent="0" marL="0">
              <a:buNone/>
            </a:pPr>
            <a:r>
              <a:rPr lang="en-US" sz="1300" dirty="0">
                <a:solidFill>
                  <a:srgbClr val="5B6478"/>
                </a:solidFill>
                <a:latin typeface="Calibri" pitchFamily="34" charset="0"/>
                <a:ea typeface="Calibri" pitchFamily="34" charset="-122"/>
                <a:cs typeface="Calibri" pitchFamily="34" charset="-120"/>
              </a:rPr>
              <a:t>One user holds different permissions on the same account because their role differs per entity. That decides where the constraint lives.</a:t>
            </a:r>
            <a:endParaRPr lang="en-US" sz="1300" dirty="0"/>
          </a:p>
        </p:txBody>
      </p:sp>
      <p:sp>
        <p:nvSpPr>
          <p:cNvPr id="4" name="Shape 2"/>
          <p:cNvSpPr/>
          <p:nvPr/>
        </p:nvSpPr>
        <p:spPr>
          <a:xfrm>
            <a:off x="548640" y="1371600"/>
            <a:ext cx="5120640" cy="749808"/>
          </a:xfrm>
          <a:prstGeom prst="roundRect">
            <a:avLst>
              <a:gd name="adj" fmla="val 7317"/>
            </a:avLst>
          </a:prstGeom>
          <a:solidFill>
            <a:srgbClr val="FFFFFF"/>
          </a:solidFill>
          <a:ln w="9525">
            <a:solidFill>
              <a:srgbClr val="DCE5F8"/>
            </a:solidFill>
            <a:prstDash val="solid"/>
          </a:ln>
        </p:spPr>
      </p:sp>
      <p:sp>
        <p:nvSpPr>
          <p:cNvPr id="5" name="Text 3"/>
          <p:cNvSpPr/>
          <p:nvPr/>
        </p:nvSpPr>
        <p:spPr>
          <a:xfrm>
            <a:off x="731520" y="1463040"/>
            <a:ext cx="4754880" cy="219456"/>
          </a:xfrm>
          <a:prstGeom prst="rect">
            <a:avLst/>
          </a:prstGeom>
          <a:noFill/>
          <a:ln/>
        </p:spPr>
        <p:txBody>
          <a:bodyPr wrap="square" lIns="0" tIns="0" rIns="0" bIns="0" rtlCol="0" anchor="ctr"/>
          <a:lstStyle/>
          <a:p>
            <a:pPr indent="0" marL="0">
              <a:buNone/>
            </a:pPr>
            <a:r>
              <a:rPr lang="en-US" sz="1150" b="1" dirty="0">
                <a:solidFill>
                  <a:srgbClr val="121A2E"/>
                </a:solidFill>
                <a:latin typeface="Calibri" pitchFamily="34" charset="0"/>
                <a:ea typeface="Calibri" pitchFamily="34" charset="-122"/>
                <a:cs typeface="Calibri" pitchFamily="34" charset="-120"/>
              </a:rPr>
              <a:t>Not the Permission or Set</a:t>
            </a:r>
            <a:endParaRPr lang="en-US" sz="1150" dirty="0"/>
          </a:p>
        </p:txBody>
      </p:sp>
      <p:sp>
        <p:nvSpPr>
          <p:cNvPr id="6" name="Text 4"/>
          <p:cNvSpPr/>
          <p:nvPr/>
        </p:nvSpPr>
        <p:spPr>
          <a:xfrm>
            <a:off x="731520" y="1700784"/>
            <a:ext cx="4754880" cy="36576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Acme's vocabulary, shared by every client. A scope there turns platform data into client data.</a:t>
            </a:r>
            <a:endParaRPr lang="en-US" sz="1000" dirty="0"/>
          </a:p>
        </p:txBody>
      </p:sp>
      <p:sp>
        <p:nvSpPr>
          <p:cNvPr id="7" name="Shape 5"/>
          <p:cNvSpPr/>
          <p:nvPr/>
        </p:nvSpPr>
        <p:spPr>
          <a:xfrm>
            <a:off x="548640" y="2212848"/>
            <a:ext cx="5120640" cy="749808"/>
          </a:xfrm>
          <a:prstGeom prst="roundRect">
            <a:avLst>
              <a:gd name="adj" fmla="val 7317"/>
            </a:avLst>
          </a:prstGeom>
          <a:solidFill>
            <a:srgbClr val="FFFFFF"/>
          </a:solidFill>
          <a:ln w="9525">
            <a:solidFill>
              <a:srgbClr val="DCE5F8"/>
            </a:solidFill>
            <a:prstDash val="solid"/>
          </a:ln>
        </p:spPr>
      </p:sp>
      <p:sp>
        <p:nvSpPr>
          <p:cNvPr id="8" name="Text 6"/>
          <p:cNvSpPr/>
          <p:nvPr/>
        </p:nvSpPr>
        <p:spPr>
          <a:xfrm>
            <a:off x="731520" y="2304288"/>
            <a:ext cx="4754880" cy="219456"/>
          </a:xfrm>
          <a:prstGeom prst="rect">
            <a:avLst/>
          </a:prstGeom>
          <a:noFill/>
          <a:ln/>
        </p:spPr>
        <p:txBody>
          <a:bodyPr wrap="square" lIns="0" tIns="0" rIns="0" bIns="0" rtlCol="0" anchor="ctr"/>
          <a:lstStyle/>
          <a:p>
            <a:pPr indent="0" marL="0">
              <a:buNone/>
            </a:pPr>
            <a:r>
              <a:rPr lang="en-US" sz="1150" b="1" dirty="0">
                <a:solidFill>
                  <a:srgbClr val="121A2E"/>
                </a:solidFill>
                <a:latin typeface="Calibri" pitchFamily="34" charset="0"/>
                <a:ea typeface="Calibri" pitchFamily="34" charset="-122"/>
                <a:cs typeface="Calibri" pitchFamily="34" charset="-120"/>
              </a:rPr>
              <a:t>Not the Role</a:t>
            </a:r>
            <a:endParaRPr lang="en-US" sz="1150" dirty="0"/>
          </a:p>
        </p:txBody>
      </p:sp>
      <p:sp>
        <p:nvSpPr>
          <p:cNvPr id="9" name="Text 7"/>
          <p:cNvSpPr/>
          <p:nvPr/>
        </p:nvSpPr>
        <p:spPr>
          <a:xfrm>
            <a:off x="731520" y="2542032"/>
            <a:ext cx="4754880" cy="36576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A scoped role is duplicated per scope. Trading APAC and Trading US would drift apart.</a:t>
            </a:r>
            <a:endParaRPr lang="en-US" sz="1000" dirty="0"/>
          </a:p>
        </p:txBody>
      </p:sp>
      <p:sp>
        <p:nvSpPr>
          <p:cNvPr id="10" name="Shape 8"/>
          <p:cNvSpPr/>
          <p:nvPr/>
        </p:nvSpPr>
        <p:spPr>
          <a:xfrm>
            <a:off x="548640" y="3054096"/>
            <a:ext cx="5120640" cy="749808"/>
          </a:xfrm>
          <a:prstGeom prst="roundRect">
            <a:avLst>
              <a:gd name="adj" fmla="val 7317"/>
            </a:avLst>
          </a:prstGeom>
          <a:solidFill>
            <a:srgbClr val="FFFFFF"/>
          </a:solidFill>
          <a:ln w="9525">
            <a:solidFill>
              <a:srgbClr val="DCE5F8"/>
            </a:solidFill>
            <a:prstDash val="solid"/>
          </a:ln>
        </p:spPr>
      </p:sp>
      <p:sp>
        <p:nvSpPr>
          <p:cNvPr id="11" name="Text 9"/>
          <p:cNvSpPr/>
          <p:nvPr/>
        </p:nvSpPr>
        <p:spPr>
          <a:xfrm>
            <a:off x="731520" y="3145536"/>
            <a:ext cx="4754880" cy="219456"/>
          </a:xfrm>
          <a:prstGeom prst="rect">
            <a:avLst/>
          </a:prstGeom>
          <a:noFill/>
          <a:ln/>
        </p:spPr>
        <p:txBody>
          <a:bodyPr wrap="square" lIns="0" tIns="0" rIns="0" bIns="0" rtlCol="0" anchor="ctr"/>
          <a:lstStyle/>
          <a:p>
            <a:pPr indent="0" marL="0">
              <a:buNone/>
            </a:pPr>
            <a:r>
              <a:rPr lang="en-US" sz="1150" b="1" dirty="0">
                <a:solidFill>
                  <a:srgbClr val="121A2E"/>
                </a:solidFill>
                <a:latin typeface="Calibri" pitchFamily="34" charset="0"/>
                <a:ea typeface="Calibri" pitchFamily="34" charset="-122"/>
                <a:cs typeface="Calibri" pitchFamily="34" charset="-120"/>
              </a:rPr>
              <a:t>Not the User</a:t>
            </a:r>
            <a:endParaRPr lang="en-US" sz="1150" dirty="0"/>
          </a:p>
        </p:txBody>
      </p:sp>
      <p:sp>
        <p:nvSpPr>
          <p:cNvPr id="12" name="Text 10"/>
          <p:cNvSpPr/>
          <p:nvPr/>
        </p:nvSpPr>
        <p:spPr>
          <a:xfrm>
            <a:off x="731520" y="3383280"/>
            <a:ext cx="4754880" cy="36576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One flat scope per person cannot express approve-for-AMA and read-only-for-US.</a:t>
            </a:r>
            <a:endParaRPr lang="en-US" sz="1000" dirty="0"/>
          </a:p>
        </p:txBody>
      </p:sp>
      <p:sp>
        <p:nvSpPr>
          <p:cNvPr id="13" name="Shape 11"/>
          <p:cNvSpPr/>
          <p:nvPr/>
        </p:nvSpPr>
        <p:spPr>
          <a:xfrm>
            <a:off x="548640" y="3895344"/>
            <a:ext cx="5120640" cy="749808"/>
          </a:xfrm>
          <a:prstGeom prst="roundRect">
            <a:avLst>
              <a:gd name="adj" fmla="val 7317"/>
            </a:avLst>
          </a:prstGeom>
          <a:solidFill>
            <a:srgbClr val="EFF3FD"/>
          </a:solidFill>
          <a:ln w="15875">
            <a:solidFill>
              <a:srgbClr val="0A3AB9"/>
            </a:solidFill>
            <a:prstDash val="solid"/>
          </a:ln>
        </p:spPr>
      </p:sp>
      <p:sp>
        <p:nvSpPr>
          <p:cNvPr id="14" name="Text 12"/>
          <p:cNvSpPr/>
          <p:nvPr/>
        </p:nvSpPr>
        <p:spPr>
          <a:xfrm>
            <a:off x="731520" y="3986784"/>
            <a:ext cx="4754880" cy="219456"/>
          </a:xfrm>
          <a:prstGeom prst="rect">
            <a:avLst/>
          </a:prstGeom>
          <a:noFill/>
          <a:ln/>
        </p:spPr>
        <p:txBody>
          <a:bodyPr wrap="square" lIns="0" tIns="0" rIns="0" bIns="0" rtlCol="0" anchor="ctr"/>
          <a:lstStyle/>
          <a:p>
            <a:pPr indent="0" marL="0">
              <a:buNone/>
            </a:pPr>
            <a:r>
              <a:rPr lang="en-US" sz="1150" b="1" dirty="0">
                <a:solidFill>
                  <a:srgbClr val="0A3AB9"/>
                </a:solidFill>
                <a:latin typeface="Calibri" pitchFamily="34" charset="0"/>
                <a:ea typeface="Calibri" pitchFamily="34" charset="-122"/>
                <a:cs typeface="Calibri" pitchFamily="34" charset="-120"/>
              </a:rPr>
              <a:t>The Group</a:t>
            </a:r>
            <a:endParaRPr lang="en-US" sz="1150" dirty="0"/>
          </a:p>
        </p:txBody>
      </p:sp>
      <p:sp>
        <p:nvSpPr>
          <p:cNvPr id="15" name="Text 13"/>
          <p:cNvSpPr/>
          <p:nvPr/>
        </p:nvSpPr>
        <p:spPr>
          <a:xfrm>
            <a:off x="731520" y="4224528"/>
            <a:ext cx="4754880" cy="365760"/>
          </a:xfrm>
          <a:prstGeom prst="rect">
            <a:avLst/>
          </a:prstGeom>
          <a:noFill/>
          <a:ln/>
        </p:spPr>
        <p:txBody>
          <a:bodyPr wrap="square" lIns="0" tIns="0" rIns="0" bIns="0" rtlCol="0" anchor="ctr"/>
          <a:lstStyle/>
          <a:p>
            <a:pPr indent="0" marL="0">
              <a:buNone/>
            </a:pPr>
            <a:r>
              <a:rPr lang="en-US" sz="1000" dirty="0">
                <a:solidFill>
                  <a:srgbClr val="121A2E"/>
                </a:solidFill>
                <a:latin typeface="Calibri" pitchFamily="34" charset="0"/>
                <a:ea typeface="Calibri" pitchFamily="34" charset="-122"/>
                <a:cs typeface="Calibri" pitchFamily="34" charset="-120"/>
              </a:rPr>
              <a:t>Users, roles and accounts already meet here, so the scope applies to one pairing of people and capabilities.</a:t>
            </a:r>
            <a:endParaRPr lang="en-US" sz="1000" dirty="0"/>
          </a:p>
        </p:txBody>
      </p:sp>
      <p:sp>
        <p:nvSpPr>
          <p:cNvPr id="16" name="Text 14"/>
          <p:cNvSpPr/>
          <p:nvPr/>
        </p:nvSpPr>
        <p:spPr>
          <a:xfrm>
            <a:off x="548640" y="4846320"/>
            <a:ext cx="5120640" cy="640080"/>
          </a:xfrm>
          <a:prstGeom prst="rect">
            <a:avLst/>
          </a:prstGeom>
          <a:solidFill>
            <a:srgbClr val="EFF3FD"/>
          </a:solidFill>
          <a:ln w="9525">
            <a:solidFill>
              <a:srgbClr val="DCE5F8"/>
            </a:solidFill>
          </a:ln>
        </p:spPr>
        <p:txBody>
          <a:bodyPr wrap="square" lIns="0" tIns="0" rIns="0" bIns="0" rtlCol="0" anchor="ctr"/>
          <a:lstStyle/>
          <a:p>
            <a:pPr indent="0" marL="0">
              <a:buNone/>
            </a:pPr>
            <a:r>
              <a:rPr lang="en-US" sz="1050" b="1" dirty="0">
                <a:solidFill>
                  <a:srgbClr val="0A3AB9"/>
                </a:solidFill>
                <a:latin typeface="Courier New" pitchFamily="34" charset="0"/>
                <a:ea typeface="Courier New" pitchFamily="34" charset="-122"/>
                <a:cs typeface="Courier New" pitchFamily="34" charset="-120"/>
              </a:rPr>
              <a:t>effective access  =  union over the user's groups of</a:t>
            </a:r>
            <a:endParaRPr lang="en-US" sz="1050" dirty="0"/>
          </a:p>
          <a:p>
            <a:pPr indent="0" marL="0">
              <a:buNone/>
            </a:pPr>
            <a:r>
              <a:rPr lang="en-US" sz="1050" dirty="0">
                <a:solidFill>
                  <a:srgbClr val="121A2E"/>
                </a:solidFill>
                <a:latin typeface="Courier New" pitchFamily="34" charset="0"/>
                <a:ea typeface="Courier New" pitchFamily="34" charset="-122"/>
                <a:cs typeface="Courier New" pitchFamily="34" charset="-120"/>
              </a:rPr>
              <a:t>( permissions of that group’s roles  ×  accounts in that group’s scope )</a:t>
            </a:r>
            <a:endParaRPr lang="en-US" sz="1050" dirty="0"/>
          </a:p>
        </p:txBody>
      </p:sp>
      <p:sp>
        <p:nvSpPr>
          <p:cNvPr id="17" name="Text 15"/>
          <p:cNvSpPr/>
          <p:nvPr/>
        </p:nvSpPr>
        <p:spPr>
          <a:xfrm>
            <a:off x="5989320" y="1371600"/>
            <a:ext cx="5669280" cy="237744"/>
          </a:xfrm>
          <a:prstGeom prst="rect">
            <a:avLst/>
          </a:prstGeom>
          <a:noFill/>
          <a:ln/>
        </p:spPr>
        <p:txBody>
          <a:bodyPr wrap="square" lIns="0" tIns="0" rIns="0" bIns="0" rtlCol="0" anchor="ctr"/>
          <a:lstStyle/>
          <a:p>
            <a:pPr indent="0" marL="0">
              <a:buNone/>
            </a:pPr>
            <a:r>
              <a:rPr lang="en-US" sz="1150" b="1" dirty="0">
                <a:solidFill>
                  <a:srgbClr val="121A2E"/>
                </a:solidFill>
                <a:latin typeface="Calibri" pitchFamily="34" charset="0"/>
                <a:ea typeface="Calibri" pitchFamily="34" charset="-122"/>
                <a:cs typeface="Calibri" pitchFamily="34" charset="-120"/>
              </a:rPr>
              <a:t>One user, two groups</a:t>
            </a:r>
            <a:endParaRPr lang="en-US" sz="1150" dirty="0"/>
          </a:p>
        </p:txBody>
      </p:sp>
      <p:sp>
        <p:nvSpPr>
          <p:cNvPr id="18" name="Shape 16"/>
          <p:cNvSpPr/>
          <p:nvPr/>
        </p:nvSpPr>
        <p:spPr>
          <a:xfrm>
            <a:off x="5989320" y="1682496"/>
            <a:ext cx="5669280" cy="713232"/>
          </a:xfrm>
          <a:prstGeom prst="roundRect">
            <a:avLst>
              <a:gd name="adj" fmla="val 7692"/>
            </a:avLst>
          </a:prstGeom>
          <a:solidFill>
            <a:srgbClr val="FFFFFF"/>
          </a:solidFill>
          <a:ln w="9525">
            <a:solidFill>
              <a:srgbClr val="DCE5F8"/>
            </a:solidFill>
            <a:prstDash val="solid"/>
          </a:ln>
        </p:spPr>
      </p:sp>
      <p:sp>
        <p:nvSpPr>
          <p:cNvPr id="19" name="Text 17"/>
          <p:cNvSpPr/>
          <p:nvPr/>
        </p:nvSpPr>
        <p:spPr>
          <a:xfrm>
            <a:off x="6172200" y="1755648"/>
            <a:ext cx="2606040" cy="219456"/>
          </a:xfrm>
          <a:prstGeom prst="rect">
            <a:avLst/>
          </a:prstGeom>
          <a:noFill/>
          <a:ln/>
        </p:spPr>
        <p:txBody>
          <a:bodyPr wrap="square" lIns="0" tIns="0" rIns="0" bIns="0" rtlCol="0" anchor="ctr"/>
          <a:lstStyle/>
          <a:p>
            <a:pPr indent="0" marL="0">
              <a:buNone/>
            </a:pPr>
            <a:r>
              <a:rPr lang="en-US" sz="1100" b="1" dirty="0">
                <a:solidFill>
                  <a:srgbClr val="121A2E"/>
                </a:solidFill>
                <a:latin typeface="Calibri" pitchFamily="34" charset="0"/>
                <a:ea typeface="Calibri" pitchFamily="34" charset="-122"/>
                <a:cs typeface="Calibri" pitchFamily="34" charset="-120"/>
              </a:rPr>
              <a:t>Payment Ops APAC</a:t>
            </a:r>
            <a:endParaRPr lang="en-US" sz="1100" dirty="0"/>
          </a:p>
        </p:txBody>
      </p:sp>
      <p:sp>
        <p:nvSpPr>
          <p:cNvPr id="20" name="Text 18"/>
          <p:cNvSpPr/>
          <p:nvPr/>
        </p:nvSpPr>
        <p:spPr>
          <a:xfrm>
            <a:off x="8869680" y="1764792"/>
            <a:ext cx="2651760" cy="201168"/>
          </a:xfrm>
          <a:prstGeom prst="rect">
            <a:avLst/>
          </a:prstGeom>
          <a:noFill/>
          <a:ln/>
        </p:spPr>
        <p:txBody>
          <a:bodyPr wrap="square" lIns="0" tIns="0" rIns="0" bIns="0" rtlCol="0" anchor="ctr"/>
          <a:lstStyle/>
          <a:p>
            <a:pPr algn="r" indent="0" marL="0">
              <a:buNone/>
            </a:pPr>
            <a:r>
              <a:rPr lang="en-US" sz="900" dirty="0">
                <a:solidFill>
                  <a:srgbClr val="0A3AB9"/>
                </a:solidFill>
                <a:latin typeface="Courier New" pitchFamily="34" charset="0"/>
                <a:ea typeface="Courier New" pitchFamily="34" charset="-122"/>
                <a:cs typeface="Courier New" pitchFamily="34" charset="-120"/>
              </a:rPr>
              <a:t>legalEntity = AMA</a:t>
            </a:r>
            <a:endParaRPr lang="en-US" sz="900" dirty="0"/>
          </a:p>
        </p:txBody>
      </p:sp>
      <p:sp>
        <p:nvSpPr>
          <p:cNvPr id="21" name="Text 19"/>
          <p:cNvSpPr/>
          <p:nvPr/>
        </p:nvSpPr>
        <p:spPr>
          <a:xfrm>
            <a:off x="6172200" y="2011680"/>
            <a:ext cx="530352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Payment Operations · create + read</a:t>
            </a:r>
            <a:endParaRPr lang="en-US" sz="1000" dirty="0"/>
          </a:p>
        </p:txBody>
      </p:sp>
      <p:sp>
        <p:nvSpPr>
          <p:cNvPr id="22" name="Shape 20"/>
          <p:cNvSpPr/>
          <p:nvPr/>
        </p:nvSpPr>
        <p:spPr>
          <a:xfrm>
            <a:off x="5989320" y="2487168"/>
            <a:ext cx="5669280" cy="713232"/>
          </a:xfrm>
          <a:prstGeom prst="roundRect">
            <a:avLst>
              <a:gd name="adj" fmla="val 7692"/>
            </a:avLst>
          </a:prstGeom>
          <a:solidFill>
            <a:srgbClr val="FFFFFF"/>
          </a:solidFill>
          <a:ln w="9525">
            <a:solidFill>
              <a:srgbClr val="DCE5F8"/>
            </a:solidFill>
            <a:prstDash val="solid"/>
          </a:ln>
        </p:spPr>
      </p:sp>
      <p:sp>
        <p:nvSpPr>
          <p:cNvPr id="23" name="Text 21"/>
          <p:cNvSpPr/>
          <p:nvPr/>
        </p:nvSpPr>
        <p:spPr>
          <a:xfrm>
            <a:off x="6172200" y="2560320"/>
            <a:ext cx="2606040" cy="219456"/>
          </a:xfrm>
          <a:prstGeom prst="rect">
            <a:avLst/>
          </a:prstGeom>
          <a:noFill/>
          <a:ln/>
        </p:spPr>
        <p:txBody>
          <a:bodyPr wrap="square" lIns="0" tIns="0" rIns="0" bIns="0" rtlCol="0" anchor="ctr"/>
          <a:lstStyle/>
          <a:p>
            <a:pPr indent="0" marL="0">
              <a:buNone/>
            </a:pPr>
            <a:r>
              <a:rPr lang="en-US" sz="1100" b="1" dirty="0">
                <a:solidFill>
                  <a:srgbClr val="121A2E"/>
                </a:solidFill>
                <a:latin typeface="Calibri" pitchFamily="34" charset="0"/>
                <a:ea typeface="Calibri" pitchFamily="34" charset="-122"/>
                <a:cs typeface="Calibri" pitchFamily="34" charset="-120"/>
              </a:rPr>
              <a:t>Trading US</a:t>
            </a:r>
            <a:endParaRPr lang="en-US" sz="1100" dirty="0"/>
          </a:p>
        </p:txBody>
      </p:sp>
      <p:sp>
        <p:nvSpPr>
          <p:cNvPr id="24" name="Text 22"/>
          <p:cNvSpPr/>
          <p:nvPr/>
        </p:nvSpPr>
        <p:spPr>
          <a:xfrm>
            <a:off x="8869680" y="2569464"/>
            <a:ext cx="2651760" cy="201168"/>
          </a:xfrm>
          <a:prstGeom prst="rect">
            <a:avLst/>
          </a:prstGeom>
          <a:noFill/>
          <a:ln/>
        </p:spPr>
        <p:txBody>
          <a:bodyPr wrap="square" lIns="0" tIns="0" rIns="0" bIns="0" rtlCol="0" anchor="ctr"/>
          <a:lstStyle/>
          <a:p>
            <a:pPr algn="r" indent="0" marL="0">
              <a:buNone/>
            </a:pPr>
            <a:r>
              <a:rPr lang="en-US" sz="900" dirty="0">
                <a:solidFill>
                  <a:srgbClr val="0A3AB9"/>
                </a:solidFill>
                <a:latin typeface="Courier New" pitchFamily="34" charset="0"/>
                <a:ea typeface="Courier New" pitchFamily="34" charset="-122"/>
                <a:cs typeface="Courier New" pitchFamily="34" charset="-120"/>
              </a:rPr>
              <a:t>purpose = OTC AND country = US</a:t>
            </a:r>
            <a:endParaRPr lang="en-US" sz="900" dirty="0"/>
          </a:p>
        </p:txBody>
      </p:sp>
      <p:sp>
        <p:nvSpPr>
          <p:cNvPr id="25" name="Text 23"/>
          <p:cNvSpPr/>
          <p:nvPr/>
        </p:nvSpPr>
        <p:spPr>
          <a:xfrm>
            <a:off x="6172200" y="2816352"/>
            <a:ext cx="530352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Trading Desk · read</a:t>
            </a:r>
            <a:endParaRPr lang="en-US" sz="1000" dirty="0"/>
          </a:p>
        </p:txBody>
      </p:sp>
      <p:sp>
        <p:nvSpPr>
          <p:cNvPr id="26" name="Shape 24"/>
          <p:cNvSpPr/>
          <p:nvPr/>
        </p:nvSpPr>
        <p:spPr>
          <a:xfrm>
            <a:off x="5989320" y="3364992"/>
            <a:ext cx="5669280" cy="969264"/>
          </a:xfrm>
          <a:prstGeom prst="roundRect">
            <a:avLst>
              <a:gd name="adj" fmla="val 5660"/>
            </a:avLst>
          </a:prstGeom>
          <a:solidFill>
            <a:srgbClr val="EFF3FD"/>
          </a:solidFill>
          <a:ln w="15875">
            <a:solidFill>
              <a:srgbClr val="0A3AB9"/>
            </a:solidFill>
            <a:prstDash val="solid"/>
          </a:ln>
        </p:spPr>
      </p:sp>
      <p:sp>
        <p:nvSpPr>
          <p:cNvPr id="27" name="Text 25"/>
          <p:cNvSpPr/>
          <p:nvPr/>
        </p:nvSpPr>
        <p:spPr>
          <a:xfrm>
            <a:off x="6172200" y="3456432"/>
            <a:ext cx="5303520" cy="219456"/>
          </a:xfrm>
          <a:prstGeom prst="rect">
            <a:avLst/>
          </a:prstGeom>
          <a:noFill/>
          <a:ln/>
        </p:spPr>
        <p:txBody>
          <a:bodyPr wrap="square" lIns="0" tIns="0" rIns="0" bIns="0" rtlCol="0" anchor="ctr"/>
          <a:lstStyle/>
          <a:p>
            <a:pPr indent="0" marL="0">
              <a:buNone/>
            </a:pPr>
            <a:r>
              <a:rPr lang="en-US" sz="1050" b="1" dirty="0">
                <a:solidFill>
                  <a:srgbClr val="0A3AB9"/>
                </a:solidFill>
                <a:latin typeface="Calibri" pitchFamily="34" charset="0"/>
                <a:ea typeface="Calibri" pitchFamily="34" charset="-122"/>
                <a:cs typeface="Calibri" pitchFamily="34" charset="-120"/>
              </a:rPr>
              <a:t>Resolved per group — correct</a:t>
            </a:r>
            <a:endParaRPr lang="en-US" sz="1050" dirty="0"/>
          </a:p>
        </p:txBody>
      </p:sp>
      <p:sp>
        <p:nvSpPr>
          <p:cNvPr id="28" name="Text 26"/>
          <p:cNvSpPr/>
          <p:nvPr/>
        </p:nvSpPr>
        <p:spPr>
          <a:xfrm>
            <a:off x="6172200" y="3712464"/>
            <a:ext cx="5303520" cy="548640"/>
          </a:xfrm>
          <a:prstGeom prst="rect">
            <a:avLst/>
          </a:prstGeom>
          <a:noFill/>
          <a:ln/>
        </p:spPr>
        <p:txBody>
          <a:bodyPr wrap="square" lIns="0" tIns="0" rIns="0" bIns="0" rtlCol="0" anchor="ctr"/>
          <a:lstStyle/>
          <a:p>
            <a:pPr indent="0" marL="0">
              <a:buNone/>
            </a:pPr>
            <a:r>
              <a:rPr lang="en-US" sz="1050" b="1" dirty="0">
                <a:solidFill>
                  <a:srgbClr val="121A2E"/>
                </a:solidFill>
                <a:latin typeface="Calibri" pitchFamily="34" charset="0"/>
                <a:ea typeface="Calibri" pitchFamily="34" charset="-122"/>
                <a:cs typeface="Calibri" pitchFamily="34" charset="-120"/>
              </a:rPr>
              <a:t>create + read</a:t>
            </a:r>
            <a:pPr indent="0" marL="0">
              <a:buNone/>
            </a:pPr>
            <a:r>
              <a:rPr lang="en-US" sz="1050" dirty="0">
                <a:solidFill>
                  <a:srgbClr val="5B6478"/>
                </a:solidFill>
                <a:latin typeface="Calibri" pitchFamily="34" charset="0"/>
                <a:ea typeface="Calibri" pitchFamily="34" charset="-122"/>
                <a:cs typeface="Calibri" pitchFamily="34" charset="-120"/>
              </a:rPr>
              <a:t> on AMA accounts only</a:t>
            </a:r>
            <a:endParaRPr lang="en-US" sz="1050" dirty="0"/>
          </a:p>
          <a:p>
            <a:pPr indent="0" marL="0">
              <a:buNone/>
            </a:pPr>
            <a:r>
              <a:rPr lang="en-US" sz="1050" b="1" dirty="0">
                <a:solidFill>
                  <a:srgbClr val="121A2E"/>
                </a:solidFill>
                <a:latin typeface="Calibri" pitchFamily="34" charset="0"/>
                <a:ea typeface="Calibri" pitchFamily="34" charset="-122"/>
                <a:cs typeface="Calibri" pitchFamily="34" charset="-120"/>
              </a:rPr>
              <a:t>read</a:t>
            </a:r>
            <a:pPr indent="0" marL="0">
              <a:buNone/>
            </a:pPr>
            <a:r>
              <a:rPr lang="en-US" sz="1050" dirty="0">
                <a:solidFill>
                  <a:srgbClr val="5B6478"/>
                </a:solidFill>
                <a:latin typeface="Calibri" pitchFamily="34" charset="0"/>
                <a:ea typeface="Calibri" pitchFamily="34" charset="-122"/>
                <a:cs typeface="Calibri" pitchFamily="34" charset="-120"/>
              </a:rPr>
              <a:t> on US OTC accounts only</a:t>
            </a:r>
            <a:endParaRPr lang="en-US" sz="1050" dirty="0"/>
          </a:p>
        </p:txBody>
      </p:sp>
      <p:sp>
        <p:nvSpPr>
          <p:cNvPr id="29" name="Shape 27"/>
          <p:cNvSpPr/>
          <p:nvPr/>
        </p:nvSpPr>
        <p:spPr>
          <a:xfrm>
            <a:off x="5989320" y="4443984"/>
            <a:ext cx="5669280" cy="1188720"/>
          </a:xfrm>
          <a:prstGeom prst="roundRect">
            <a:avLst>
              <a:gd name="adj" fmla="val 4615"/>
            </a:avLst>
          </a:prstGeom>
          <a:solidFill>
            <a:srgbClr val="FDF1E9"/>
          </a:solidFill>
          <a:ln w="15875">
            <a:solidFill>
              <a:srgbClr val="A8410F"/>
            </a:solidFill>
            <a:prstDash val="solid"/>
          </a:ln>
        </p:spPr>
      </p:sp>
      <p:sp>
        <p:nvSpPr>
          <p:cNvPr id="30" name="Text 28"/>
          <p:cNvSpPr/>
          <p:nvPr/>
        </p:nvSpPr>
        <p:spPr>
          <a:xfrm>
            <a:off x="6172200" y="4535424"/>
            <a:ext cx="5303520" cy="219456"/>
          </a:xfrm>
          <a:prstGeom prst="rect">
            <a:avLst/>
          </a:prstGeom>
          <a:noFill/>
          <a:ln/>
        </p:spPr>
        <p:txBody>
          <a:bodyPr wrap="square" lIns="0" tIns="0" rIns="0" bIns="0" rtlCol="0" anchor="ctr"/>
          <a:lstStyle/>
          <a:p>
            <a:pPr indent="0" marL="0">
              <a:buNone/>
            </a:pPr>
            <a:r>
              <a:rPr lang="en-US" sz="1050" b="1" dirty="0">
                <a:solidFill>
                  <a:srgbClr val="A8410F"/>
                </a:solidFill>
                <a:latin typeface="Calibri" pitchFamily="34" charset="0"/>
                <a:ea typeface="Calibri" pitchFamily="34" charset="-122"/>
                <a:cs typeface="Calibri" pitchFamily="34" charset="-120"/>
              </a:rPr>
              <a:t>Permissions unioned, then crossed with accounts — wrong</a:t>
            </a:r>
            <a:endParaRPr lang="en-US" sz="1050" dirty="0"/>
          </a:p>
        </p:txBody>
      </p:sp>
      <p:sp>
        <p:nvSpPr>
          <p:cNvPr id="31" name="Text 29"/>
          <p:cNvSpPr/>
          <p:nvPr/>
        </p:nvSpPr>
        <p:spPr>
          <a:xfrm>
            <a:off x="6172200" y="4791456"/>
            <a:ext cx="5303520" cy="768096"/>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create + read on AMA</a:t>
            </a:r>
            <a:endParaRPr lang="en-US" sz="1050" dirty="0"/>
          </a:p>
          <a:p>
            <a:pPr indent="0" marL="0">
              <a:buNone/>
            </a:pPr>
            <a:r>
              <a:rPr lang="en-US" sz="1050" dirty="0">
                <a:solidFill>
                  <a:srgbClr val="5B6478"/>
                </a:solidFill>
                <a:latin typeface="Calibri" pitchFamily="34" charset="0"/>
                <a:ea typeface="Calibri" pitchFamily="34" charset="-122"/>
                <a:cs typeface="Calibri" pitchFamily="34" charset="-120"/>
              </a:rPr>
              <a:t>read on US OTC</a:t>
            </a:r>
            <a:endParaRPr lang="en-US" sz="1050" dirty="0"/>
          </a:p>
          <a:p>
            <a:pPr indent="0" marL="0">
              <a:buNone/>
            </a:pPr>
            <a:r>
              <a:rPr lang="en-US" sz="1050" b="1" dirty="0">
                <a:solidFill>
                  <a:srgbClr val="A8410F"/>
                </a:solidFill>
                <a:latin typeface="Calibri" pitchFamily="34" charset="0"/>
                <a:ea typeface="Calibri" pitchFamily="34" charset="-122"/>
                <a:cs typeface="Calibri" pitchFamily="34" charset="-120"/>
              </a:rPr>
              <a:t>create on US OTC — granted by no group</a:t>
            </a:r>
            <a:endParaRPr lang="en-US" sz="1050" dirty="0"/>
          </a:p>
        </p:txBody>
      </p:sp>
      <p:sp>
        <p:nvSpPr>
          <p:cNvPr id="32" name="Text 30"/>
          <p:cNvSpPr/>
          <p:nvPr/>
        </p:nvSpPr>
        <p:spPr>
          <a:xfrm>
            <a:off x="548640" y="5852160"/>
            <a:ext cx="11109960" cy="274320"/>
          </a:xfrm>
          <a:prstGeom prst="rect">
            <a:avLst/>
          </a:prstGeom>
          <a:noFill/>
          <a:ln/>
        </p:spPr>
        <p:txBody>
          <a:bodyPr wrap="square" lIns="0" tIns="0" rIns="0" bIns="0" rtlCol="0" anchor="ctr"/>
          <a:lstStyle/>
          <a:p>
            <a:pPr indent="0" marL="0">
              <a:buNone/>
            </a:pPr>
            <a:r>
              <a:rPr lang="en-US" sz="1000" i="1" dirty="0">
                <a:solidFill>
                  <a:srgbClr val="5B6478"/>
                </a:solidFill>
                <a:latin typeface="Calibri" pitchFamily="34" charset="0"/>
                <a:ea typeface="Calibri" pitchFamily="34" charset="-122"/>
                <a:cs typeface="Calibri" pitchFamily="34" charset="-120"/>
              </a:rPr>
              <a:t>Two groups overlapping one account add up, and that is intended. Stopping someone approving their own payment order is a maker-checker rule, not a permission.</a:t>
            </a:r>
            <a:endParaRPr lang="en-US" sz="1000" dirty="0"/>
          </a:p>
        </p:txBody>
      </p:sp>
      <p:sp>
        <p:nvSpPr>
          <p:cNvPr id="33" name="Text 31"/>
          <p:cNvSpPr/>
          <p:nvPr/>
        </p:nvSpPr>
        <p:spPr>
          <a:xfrm>
            <a:off x="548640" y="6163056"/>
            <a:ext cx="11109960" cy="274320"/>
          </a:xfrm>
          <a:prstGeom prst="rect">
            <a:avLst/>
          </a:prstGeom>
          <a:noFill/>
          <a:ln/>
        </p:spPr>
        <p:txBody>
          <a:bodyPr wrap="square" lIns="0" tIns="0" rIns="0" bIns="0" rtlCol="0" anchor="ctr"/>
          <a:lstStyle/>
          <a:p>
            <a:pPr indent="0" marL="0">
              <a:buNone/>
            </a:pPr>
            <a:r>
              <a:rPr lang="en-US" sz="1000" i="1" dirty="0">
                <a:solidFill>
                  <a:srgbClr val="5B6478"/>
                </a:solidFill>
                <a:latin typeface="Calibri" pitchFamily="34" charset="0"/>
                <a:ea typeface="Calibri" pitchFamily="34" charset="-122"/>
                <a:cs typeface="Calibri" pitchFamily="34" charset="-120"/>
              </a:rPr>
              <a:t>Scope is a predicate over account attributes, not a picked list: legal entity, country, currency, purpose. A picked list goes stale the day a new OTC account opens.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229600" cy="548640"/>
          </a:xfrm>
          <a:prstGeom prst="rect">
            <a:avLst/>
          </a:prstGeom>
          <a:noFill/>
          <a:ln/>
        </p:spPr>
        <p:txBody>
          <a:bodyPr wrap="square" lIns="0" tIns="0" rIns="0" bIns="0" rtlCol="0" anchor="ctr"/>
          <a:lstStyle/>
          <a:p>
            <a:pPr indent="0" marL="0">
              <a:buNone/>
            </a:pPr>
            <a:r>
              <a:rPr lang="en-US" sz="3400" b="1" dirty="0">
                <a:solidFill>
                  <a:srgbClr val="0A3AB9"/>
                </a:solidFill>
                <a:latin typeface="Cambria" pitchFamily="34" charset="0"/>
                <a:ea typeface="Cambria" pitchFamily="34" charset="-122"/>
                <a:cs typeface="Cambria" pitchFamily="34" charset="-120"/>
              </a:rPr>
              <a:t>What each team asked for</a:t>
            </a:r>
            <a:endParaRPr lang="en-US" sz="3400" dirty="0"/>
          </a:p>
        </p:txBody>
      </p:sp>
      <p:sp>
        <p:nvSpPr>
          <p:cNvPr id="3" name="Text 1"/>
          <p:cNvSpPr/>
          <p:nvPr/>
        </p:nvSpPr>
        <p:spPr>
          <a:xfrm>
            <a:off x="548640" y="914400"/>
            <a:ext cx="10607040" cy="274320"/>
          </a:xfrm>
          <a:prstGeom prst="rect">
            <a:avLst/>
          </a:prstGeom>
          <a:noFill/>
          <a:ln/>
        </p:spPr>
        <p:txBody>
          <a:bodyPr wrap="square" lIns="0" tIns="0" rIns="0" bIns="0" rtlCol="0" anchor="ctr"/>
          <a:lstStyle/>
          <a:p>
            <a:pPr indent="0" marL="0">
              <a:buNone/>
            </a:pPr>
            <a:r>
              <a:rPr lang="en-US" sz="1300" dirty="0">
                <a:solidFill>
                  <a:srgbClr val="5B6478"/>
                </a:solidFill>
                <a:latin typeface="Calibri" pitchFamily="34" charset="0"/>
                <a:ea typeface="Calibri" pitchFamily="34" charset="-122"/>
                <a:cs typeface="Calibri" pitchFamily="34" charset="-120"/>
              </a:rPr>
              <a:t>Eight stories, five Acme permission sets, eight client roles. Two pairs prove Role and Group are separate layers.</a:t>
            </a:r>
            <a:endParaRPr lang="en-US" sz="1300" dirty="0"/>
          </a:p>
        </p:txBody>
      </p:sp>
      <p:sp>
        <p:nvSpPr>
          <p:cNvPr id="4" name="Shape 2"/>
          <p:cNvSpPr/>
          <p:nvPr/>
        </p:nvSpPr>
        <p:spPr>
          <a:xfrm>
            <a:off x="548640" y="1371600"/>
            <a:ext cx="5376672" cy="1024128"/>
          </a:xfrm>
          <a:prstGeom prst="roundRect">
            <a:avLst>
              <a:gd name="adj" fmla="val 5357"/>
            </a:avLst>
          </a:prstGeom>
          <a:solidFill>
            <a:srgbClr val="EFF3FD"/>
          </a:solidFill>
          <a:ln w="9525">
            <a:solidFill>
              <a:srgbClr val="DCE5F8"/>
            </a:solidFill>
            <a:prstDash val="solid"/>
          </a:ln>
        </p:spPr>
      </p:sp>
      <p:sp>
        <p:nvSpPr>
          <p:cNvPr id="5" name="Shape 3"/>
          <p:cNvSpPr/>
          <p:nvPr/>
        </p:nvSpPr>
        <p:spPr>
          <a:xfrm>
            <a:off x="731520" y="1536192"/>
            <a:ext cx="402336" cy="402336"/>
          </a:xfrm>
          <a:prstGeom prst="ellipse">
            <a:avLst/>
          </a:prstGeom>
          <a:solidFill>
            <a:srgbClr val="0A3AB9"/>
          </a:solidFill>
          <a:ln w="12700">
            <a:solidFill>
              <a:srgbClr val="0A3AB9"/>
            </a:solidFill>
            <a:prstDash val="solid"/>
          </a:ln>
        </p:spPr>
      </p:sp>
      <p:sp>
        <p:nvSpPr>
          <p:cNvPr id="6" name="Text 4"/>
          <p:cNvSpPr/>
          <p:nvPr/>
        </p:nvSpPr>
        <p:spPr>
          <a:xfrm>
            <a:off x="731520" y="1536192"/>
            <a:ext cx="4023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PO</a:t>
            </a:r>
            <a:endParaRPr lang="en-US" sz="1000" dirty="0"/>
          </a:p>
        </p:txBody>
      </p:sp>
      <p:sp>
        <p:nvSpPr>
          <p:cNvPr id="7" name="Text 5"/>
          <p:cNvSpPr/>
          <p:nvPr/>
        </p:nvSpPr>
        <p:spPr>
          <a:xfrm>
            <a:off x="1243584" y="1481328"/>
            <a:ext cx="2907792" cy="219456"/>
          </a:xfrm>
          <a:prstGeom prst="rect">
            <a:avLst/>
          </a:prstGeom>
          <a:noFill/>
          <a:ln/>
        </p:spPr>
        <p:txBody>
          <a:bodyPr wrap="square" lIns="0" tIns="0" rIns="0" bIns="0" rtlCol="0" anchor="ctr"/>
          <a:lstStyle/>
          <a:p>
            <a:pPr indent="0" marL="0">
              <a:buNone/>
            </a:pPr>
            <a:r>
              <a:rPr lang="en-US" sz="1200" b="1" dirty="0">
                <a:solidFill>
                  <a:srgbClr val="121A2E"/>
                </a:solidFill>
                <a:latin typeface="Calibri" pitchFamily="34" charset="0"/>
                <a:ea typeface="Calibri" pitchFamily="34" charset="-122"/>
                <a:cs typeface="Calibri" pitchFamily="34" charset="-120"/>
              </a:rPr>
              <a:t>Payment Operations</a:t>
            </a:r>
            <a:endParaRPr lang="en-US" sz="1200" dirty="0"/>
          </a:p>
        </p:txBody>
      </p:sp>
      <p:sp>
        <p:nvSpPr>
          <p:cNvPr id="8" name="Text 6"/>
          <p:cNvSpPr/>
          <p:nvPr/>
        </p:nvSpPr>
        <p:spPr>
          <a:xfrm>
            <a:off x="4206240" y="1499616"/>
            <a:ext cx="1554480" cy="201168"/>
          </a:xfrm>
          <a:prstGeom prst="rect">
            <a:avLst/>
          </a:prstGeom>
          <a:noFill/>
          <a:ln/>
        </p:spPr>
        <p:txBody>
          <a:bodyPr wrap="square" lIns="0" tIns="0" rIns="0" bIns="0" rtlCol="0" anchor="ctr"/>
          <a:lstStyle/>
          <a:p>
            <a:pPr algn="r" indent="0" marL="0">
              <a:buNone/>
            </a:pPr>
            <a:r>
              <a:rPr lang="en-US" sz="900" dirty="0">
                <a:solidFill>
                  <a:srgbClr val="0A3AB9"/>
                </a:solidFill>
                <a:latin typeface="Calibri" pitchFamily="34" charset="0"/>
                <a:ea typeface="Calibri" pitchFamily="34" charset="-122"/>
                <a:cs typeface="Calibri" pitchFamily="34" charset="-120"/>
              </a:rPr>
              <a:t>Payments</a:t>
            </a:r>
            <a:endParaRPr lang="en-US" sz="900" dirty="0"/>
          </a:p>
        </p:txBody>
      </p:sp>
      <p:sp>
        <p:nvSpPr>
          <p:cNvPr id="9" name="Text 7"/>
          <p:cNvSpPr/>
          <p:nvPr/>
        </p:nvSpPr>
        <p:spPr>
          <a:xfrm>
            <a:off x="1243584" y="1719072"/>
            <a:ext cx="4517136" cy="384048"/>
          </a:xfrm>
          <a:prstGeom prst="rect">
            <a:avLst/>
          </a:prstGeom>
          <a:noFill/>
          <a:ln/>
        </p:spPr>
        <p:txBody>
          <a:bodyPr wrap="square" lIns="0" tIns="0" rIns="0" bIns="0" rtlCol="0" anchor="ctr"/>
          <a:lstStyle/>
          <a:p>
            <a:pPr indent="0" marL="0">
              <a:buNone/>
            </a:pPr>
            <a:r>
              <a:rPr lang="en-US" sz="950" dirty="0">
                <a:solidFill>
                  <a:srgbClr val="3C4759"/>
                </a:solidFill>
                <a:latin typeface="Calibri" pitchFamily="34" charset="0"/>
                <a:ea typeface="Calibri" pitchFamily="34" charset="-122"/>
                <a:cs typeface="Calibri" pitchFamily="34" charset="-120"/>
              </a:rPr>
              <a:t>As a member of the payment operations team, I need access to the portal to create a new payment.</a:t>
            </a:r>
            <a:endParaRPr lang="en-US" sz="950" dirty="0"/>
          </a:p>
        </p:txBody>
      </p:sp>
      <p:sp>
        <p:nvSpPr>
          <p:cNvPr id="10" name="Text 8"/>
          <p:cNvSpPr/>
          <p:nvPr/>
        </p:nvSpPr>
        <p:spPr>
          <a:xfrm>
            <a:off x="1243584" y="2121408"/>
            <a:ext cx="4517136" cy="201168"/>
          </a:xfrm>
          <a:prstGeom prst="rect">
            <a:avLst/>
          </a:prstGeom>
          <a:noFill/>
          <a:ln/>
        </p:spPr>
        <p:txBody>
          <a:bodyPr wrap="square" lIns="0" tIns="0" rIns="0" bIns="0" rtlCol="0" anchor="ctr"/>
          <a:lstStyle/>
          <a:p>
            <a:pPr indent="0" marL="0">
              <a:buNone/>
            </a:pPr>
            <a:r>
              <a:rPr lang="en-US" sz="850" dirty="0">
                <a:solidFill>
                  <a:srgbClr val="0A3AB9"/>
                </a:solidFill>
                <a:latin typeface="Courier New" pitchFamily="34" charset="0"/>
                <a:ea typeface="Courier New" pitchFamily="34" charset="-122"/>
                <a:cs typeface="Courier New" pitchFamily="34" charset="-120"/>
              </a:rPr>
              <a:t>legalEntity = AMA</a:t>
            </a:r>
            <a:endParaRPr lang="en-US" sz="850" dirty="0"/>
          </a:p>
        </p:txBody>
      </p:sp>
      <p:sp>
        <p:nvSpPr>
          <p:cNvPr id="11" name="Shape 9"/>
          <p:cNvSpPr/>
          <p:nvPr/>
        </p:nvSpPr>
        <p:spPr>
          <a:xfrm>
            <a:off x="6263640" y="1371600"/>
            <a:ext cx="5376672" cy="1024128"/>
          </a:xfrm>
          <a:prstGeom prst="roundRect">
            <a:avLst>
              <a:gd name="adj" fmla="val 5357"/>
            </a:avLst>
          </a:prstGeom>
          <a:solidFill>
            <a:srgbClr val="EFF3FD"/>
          </a:solidFill>
          <a:ln w="9525">
            <a:solidFill>
              <a:srgbClr val="DCE5F8"/>
            </a:solidFill>
            <a:prstDash val="solid"/>
          </a:ln>
        </p:spPr>
      </p:sp>
      <p:sp>
        <p:nvSpPr>
          <p:cNvPr id="12" name="Shape 10"/>
          <p:cNvSpPr/>
          <p:nvPr/>
        </p:nvSpPr>
        <p:spPr>
          <a:xfrm>
            <a:off x="6446520" y="1536192"/>
            <a:ext cx="402336" cy="402336"/>
          </a:xfrm>
          <a:prstGeom prst="ellipse">
            <a:avLst/>
          </a:prstGeom>
          <a:solidFill>
            <a:srgbClr val="0A3AB9"/>
          </a:solidFill>
          <a:ln w="12700">
            <a:solidFill>
              <a:srgbClr val="0A3AB9"/>
            </a:solidFill>
            <a:prstDash val="solid"/>
          </a:ln>
        </p:spPr>
      </p:sp>
      <p:sp>
        <p:nvSpPr>
          <p:cNvPr id="13" name="Text 11"/>
          <p:cNvSpPr/>
          <p:nvPr/>
        </p:nvSpPr>
        <p:spPr>
          <a:xfrm>
            <a:off x="6446520" y="1536192"/>
            <a:ext cx="4023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RC</a:t>
            </a:r>
            <a:endParaRPr lang="en-US" sz="1000" dirty="0"/>
          </a:p>
        </p:txBody>
      </p:sp>
      <p:sp>
        <p:nvSpPr>
          <p:cNvPr id="14" name="Text 12"/>
          <p:cNvSpPr/>
          <p:nvPr/>
        </p:nvSpPr>
        <p:spPr>
          <a:xfrm>
            <a:off x="6958584" y="1481328"/>
            <a:ext cx="2907792" cy="219456"/>
          </a:xfrm>
          <a:prstGeom prst="rect">
            <a:avLst/>
          </a:prstGeom>
          <a:noFill/>
          <a:ln/>
        </p:spPr>
        <p:txBody>
          <a:bodyPr wrap="square" lIns="0" tIns="0" rIns="0" bIns="0" rtlCol="0" anchor="ctr"/>
          <a:lstStyle/>
          <a:p>
            <a:pPr indent="0" marL="0">
              <a:buNone/>
            </a:pPr>
            <a:r>
              <a:rPr lang="en-US" sz="1200" b="1" dirty="0">
                <a:solidFill>
                  <a:srgbClr val="121A2E"/>
                </a:solidFill>
                <a:latin typeface="Calibri" pitchFamily="34" charset="0"/>
                <a:ea typeface="Calibri" pitchFamily="34" charset="-122"/>
                <a:cs typeface="Calibri" pitchFamily="34" charset="-120"/>
              </a:rPr>
              <a:t>Reconciliation</a:t>
            </a:r>
            <a:endParaRPr lang="en-US" sz="1200" dirty="0"/>
          </a:p>
        </p:txBody>
      </p:sp>
      <p:sp>
        <p:nvSpPr>
          <p:cNvPr id="15" name="Text 13"/>
          <p:cNvSpPr/>
          <p:nvPr/>
        </p:nvSpPr>
        <p:spPr>
          <a:xfrm>
            <a:off x="9921240" y="1499616"/>
            <a:ext cx="1554480" cy="201168"/>
          </a:xfrm>
          <a:prstGeom prst="rect">
            <a:avLst/>
          </a:prstGeom>
          <a:noFill/>
          <a:ln/>
        </p:spPr>
        <p:txBody>
          <a:bodyPr wrap="square" lIns="0" tIns="0" rIns="0" bIns="0" rtlCol="0" anchor="ctr"/>
          <a:lstStyle/>
          <a:p>
            <a:pPr algn="r" indent="0" marL="0">
              <a:buNone/>
            </a:pPr>
            <a:r>
              <a:rPr lang="en-US" sz="900" dirty="0">
                <a:solidFill>
                  <a:srgbClr val="0A3AB9"/>
                </a:solidFill>
                <a:latin typeface="Calibri" pitchFamily="34" charset="0"/>
                <a:ea typeface="Calibri" pitchFamily="34" charset="-122"/>
                <a:cs typeface="Calibri" pitchFamily="34" charset="-120"/>
              </a:rPr>
              <a:t>Reporting</a:t>
            </a:r>
            <a:endParaRPr lang="en-US" sz="900" dirty="0"/>
          </a:p>
        </p:txBody>
      </p:sp>
      <p:sp>
        <p:nvSpPr>
          <p:cNvPr id="16" name="Text 14"/>
          <p:cNvSpPr/>
          <p:nvPr/>
        </p:nvSpPr>
        <p:spPr>
          <a:xfrm>
            <a:off x="6958584" y="1719072"/>
            <a:ext cx="4517136" cy="384048"/>
          </a:xfrm>
          <a:prstGeom prst="rect">
            <a:avLst/>
          </a:prstGeom>
          <a:noFill/>
          <a:ln/>
        </p:spPr>
        <p:txBody>
          <a:bodyPr wrap="square" lIns="0" tIns="0" rIns="0" bIns="0" rtlCol="0" anchor="ctr"/>
          <a:lstStyle/>
          <a:p>
            <a:pPr indent="0" marL="0">
              <a:buNone/>
            </a:pPr>
            <a:r>
              <a:rPr lang="en-US" sz="950" dirty="0">
                <a:solidFill>
                  <a:srgbClr val="3C4759"/>
                </a:solidFill>
                <a:latin typeface="Calibri" pitchFamily="34" charset="0"/>
                <a:ea typeface="Calibri" pitchFamily="34" charset="-122"/>
                <a:cs typeface="Calibri" pitchFamily="34" charset="-120"/>
              </a:rPr>
              <a:t>As a member of the recon team, I need to read the balances and transactions data for data analysis.</a:t>
            </a:r>
            <a:endParaRPr lang="en-US" sz="950" dirty="0"/>
          </a:p>
        </p:txBody>
      </p:sp>
      <p:sp>
        <p:nvSpPr>
          <p:cNvPr id="17" name="Text 15"/>
          <p:cNvSpPr/>
          <p:nvPr/>
        </p:nvSpPr>
        <p:spPr>
          <a:xfrm>
            <a:off x="6958584" y="2121408"/>
            <a:ext cx="4517136" cy="201168"/>
          </a:xfrm>
          <a:prstGeom prst="rect">
            <a:avLst/>
          </a:prstGeom>
          <a:noFill/>
          <a:ln/>
        </p:spPr>
        <p:txBody>
          <a:bodyPr wrap="square" lIns="0" tIns="0" rIns="0" bIns="0" rtlCol="0" anchor="ctr"/>
          <a:lstStyle/>
          <a:p>
            <a:pPr indent="0" marL="0">
              <a:buNone/>
            </a:pPr>
            <a:r>
              <a:rPr lang="en-US" sz="850" dirty="0">
                <a:solidFill>
                  <a:srgbClr val="0A3AB9"/>
                </a:solidFill>
                <a:latin typeface="Courier New" pitchFamily="34" charset="0"/>
                <a:ea typeface="Courier New" pitchFamily="34" charset="-122"/>
                <a:cs typeface="Courier New" pitchFamily="34" charset="-120"/>
              </a:rPr>
              <a:t>all accounts · read only</a:t>
            </a:r>
            <a:endParaRPr lang="en-US" sz="850" dirty="0"/>
          </a:p>
        </p:txBody>
      </p:sp>
      <p:sp>
        <p:nvSpPr>
          <p:cNvPr id="18" name="Shape 16"/>
          <p:cNvSpPr/>
          <p:nvPr/>
        </p:nvSpPr>
        <p:spPr>
          <a:xfrm>
            <a:off x="548640" y="2487168"/>
            <a:ext cx="5376672" cy="1024128"/>
          </a:xfrm>
          <a:prstGeom prst="roundRect">
            <a:avLst>
              <a:gd name="adj" fmla="val 5357"/>
            </a:avLst>
          </a:prstGeom>
          <a:solidFill>
            <a:srgbClr val="EFF3FD"/>
          </a:solidFill>
          <a:ln w="9525">
            <a:solidFill>
              <a:srgbClr val="DCE5F8"/>
            </a:solidFill>
            <a:prstDash val="solid"/>
          </a:ln>
        </p:spPr>
      </p:sp>
      <p:sp>
        <p:nvSpPr>
          <p:cNvPr id="19" name="Shape 17"/>
          <p:cNvSpPr/>
          <p:nvPr/>
        </p:nvSpPr>
        <p:spPr>
          <a:xfrm>
            <a:off x="731520" y="2651760"/>
            <a:ext cx="402336" cy="402336"/>
          </a:xfrm>
          <a:prstGeom prst="ellipse">
            <a:avLst/>
          </a:prstGeom>
          <a:solidFill>
            <a:srgbClr val="0A3AB9"/>
          </a:solidFill>
          <a:ln w="12700">
            <a:solidFill>
              <a:srgbClr val="0A3AB9"/>
            </a:solidFill>
            <a:prstDash val="solid"/>
          </a:ln>
        </p:spPr>
      </p:sp>
      <p:sp>
        <p:nvSpPr>
          <p:cNvPr id="20" name="Text 18"/>
          <p:cNvSpPr/>
          <p:nvPr/>
        </p:nvSpPr>
        <p:spPr>
          <a:xfrm>
            <a:off x="731520" y="2651760"/>
            <a:ext cx="4023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TR</a:t>
            </a:r>
            <a:endParaRPr lang="en-US" sz="1000" dirty="0"/>
          </a:p>
        </p:txBody>
      </p:sp>
      <p:sp>
        <p:nvSpPr>
          <p:cNvPr id="21" name="Text 19"/>
          <p:cNvSpPr/>
          <p:nvPr/>
        </p:nvSpPr>
        <p:spPr>
          <a:xfrm>
            <a:off x="1243584" y="2596896"/>
            <a:ext cx="2907792" cy="219456"/>
          </a:xfrm>
          <a:prstGeom prst="rect">
            <a:avLst/>
          </a:prstGeom>
          <a:noFill/>
          <a:ln/>
        </p:spPr>
        <p:txBody>
          <a:bodyPr wrap="square" lIns="0" tIns="0" rIns="0" bIns="0" rtlCol="0" anchor="ctr"/>
          <a:lstStyle/>
          <a:p>
            <a:pPr indent="0" marL="0">
              <a:buNone/>
            </a:pPr>
            <a:r>
              <a:rPr lang="en-US" sz="1200" b="1" dirty="0">
                <a:solidFill>
                  <a:srgbClr val="121A2E"/>
                </a:solidFill>
                <a:latin typeface="Calibri" pitchFamily="34" charset="0"/>
                <a:ea typeface="Calibri" pitchFamily="34" charset="-122"/>
                <a:cs typeface="Calibri" pitchFamily="34" charset="-120"/>
              </a:rPr>
              <a:t>Treasury</a:t>
            </a:r>
            <a:endParaRPr lang="en-US" sz="1200" dirty="0"/>
          </a:p>
        </p:txBody>
      </p:sp>
      <p:sp>
        <p:nvSpPr>
          <p:cNvPr id="22" name="Text 20"/>
          <p:cNvSpPr/>
          <p:nvPr/>
        </p:nvSpPr>
        <p:spPr>
          <a:xfrm>
            <a:off x="4206240" y="2615184"/>
            <a:ext cx="1554480" cy="201168"/>
          </a:xfrm>
          <a:prstGeom prst="rect">
            <a:avLst/>
          </a:prstGeom>
          <a:noFill/>
          <a:ln/>
        </p:spPr>
        <p:txBody>
          <a:bodyPr wrap="square" lIns="0" tIns="0" rIns="0" bIns="0" rtlCol="0" anchor="ctr"/>
          <a:lstStyle/>
          <a:p>
            <a:pPr algn="r" indent="0" marL="0">
              <a:buNone/>
            </a:pPr>
            <a:r>
              <a:rPr lang="en-US" sz="900" dirty="0">
                <a:solidFill>
                  <a:srgbClr val="0A3AB9"/>
                </a:solidFill>
                <a:latin typeface="Calibri" pitchFamily="34" charset="0"/>
                <a:ea typeface="Calibri" pitchFamily="34" charset="-122"/>
                <a:cs typeface="Calibri" pitchFamily="34" charset="-120"/>
              </a:rPr>
              <a:t>Payments</a:t>
            </a:r>
            <a:endParaRPr lang="en-US" sz="900" dirty="0"/>
          </a:p>
        </p:txBody>
      </p:sp>
      <p:sp>
        <p:nvSpPr>
          <p:cNvPr id="23" name="Text 21"/>
          <p:cNvSpPr/>
          <p:nvPr/>
        </p:nvSpPr>
        <p:spPr>
          <a:xfrm>
            <a:off x="1243584" y="2834640"/>
            <a:ext cx="4517136" cy="384048"/>
          </a:xfrm>
          <a:prstGeom prst="rect">
            <a:avLst/>
          </a:prstGeom>
          <a:noFill/>
          <a:ln/>
        </p:spPr>
        <p:txBody>
          <a:bodyPr wrap="square" lIns="0" tIns="0" rIns="0" bIns="0" rtlCol="0" anchor="ctr"/>
          <a:lstStyle/>
          <a:p>
            <a:pPr indent="0" marL="0">
              <a:buNone/>
            </a:pPr>
            <a:r>
              <a:rPr lang="en-US" sz="950" dirty="0">
                <a:solidFill>
                  <a:srgbClr val="3C4759"/>
                </a:solidFill>
                <a:latin typeface="Calibri" pitchFamily="34" charset="0"/>
                <a:ea typeface="Calibri" pitchFamily="34" charset="-122"/>
                <a:cs typeface="Calibri" pitchFamily="34" charset="-120"/>
              </a:rPr>
              <a:t>As a member of the treasury team, I need to perform my daily treasury operations.</a:t>
            </a:r>
            <a:endParaRPr lang="en-US" sz="950" dirty="0"/>
          </a:p>
        </p:txBody>
      </p:sp>
      <p:sp>
        <p:nvSpPr>
          <p:cNvPr id="24" name="Text 22"/>
          <p:cNvSpPr/>
          <p:nvPr/>
        </p:nvSpPr>
        <p:spPr>
          <a:xfrm>
            <a:off x="1243584" y="3236976"/>
            <a:ext cx="4517136" cy="201168"/>
          </a:xfrm>
          <a:prstGeom prst="rect">
            <a:avLst/>
          </a:prstGeom>
          <a:noFill/>
          <a:ln/>
        </p:spPr>
        <p:txBody>
          <a:bodyPr wrap="square" lIns="0" tIns="0" rIns="0" bIns="0" rtlCol="0" anchor="ctr"/>
          <a:lstStyle/>
          <a:p>
            <a:pPr indent="0" marL="0">
              <a:buNone/>
            </a:pPr>
            <a:r>
              <a:rPr lang="en-US" sz="850" dirty="0">
                <a:solidFill>
                  <a:srgbClr val="0A3AB9"/>
                </a:solidFill>
                <a:latin typeface="Courier New" pitchFamily="34" charset="0"/>
                <a:ea typeface="Courier New" pitchFamily="34" charset="-122"/>
                <a:cs typeface="Courier New" pitchFamily="34" charset="-120"/>
              </a:rPr>
              <a:t>all accounts</a:t>
            </a:r>
            <a:endParaRPr lang="en-US" sz="850" dirty="0"/>
          </a:p>
        </p:txBody>
      </p:sp>
      <p:sp>
        <p:nvSpPr>
          <p:cNvPr id="25" name="Shape 23"/>
          <p:cNvSpPr/>
          <p:nvPr/>
        </p:nvSpPr>
        <p:spPr>
          <a:xfrm>
            <a:off x="6263640" y="2487168"/>
            <a:ext cx="5376672" cy="1024128"/>
          </a:xfrm>
          <a:prstGeom prst="roundRect">
            <a:avLst>
              <a:gd name="adj" fmla="val 5357"/>
            </a:avLst>
          </a:prstGeom>
          <a:solidFill>
            <a:srgbClr val="EFF3FD"/>
          </a:solidFill>
          <a:ln w="9525">
            <a:solidFill>
              <a:srgbClr val="DCE5F8"/>
            </a:solidFill>
            <a:prstDash val="solid"/>
          </a:ln>
        </p:spPr>
      </p:sp>
      <p:sp>
        <p:nvSpPr>
          <p:cNvPr id="26" name="Shape 24"/>
          <p:cNvSpPr/>
          <p:nvPr/>
        </p:nvSpPr>
        <p:spPr>
          <a:xfrm>
            <a:off x="6446520" y="2651760"/>
            <a:ext cx="402336" cy="402336"/>
          </a:xfrm>
          <a:prstGeom prst="ellipse">
            <a:avLst/>
          </a:prstGeom>
          <a:solidFill>
            <a:srgbClr val="0A3AB9"/>
          </a:solidFill>
          <a:ln w="12700">
            <a:solidFill>
              <a:srgbClr val="0A3AB9"/>
            </a:solidFill>
            <a:prstDash val="solid"/>
          </a:ln>
        </p:spPr>
      </p:sp>
      <p:sp>
        <p:nvSpPr>
          <p:cNvPr id="27" name="Text 25"/>
          <p:cNvSpPr/>
          <p:nvPr/>
        </p:nvSpPr>
        <p:spPr>
          <a:xfrm>
            <a:off x="6446520" y="2651760"/>
            <a:ext cx="4023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FS</a:t>
            </a:r>
            <a:endParaRPr lang="en-US" sz="1000" dirty="0"/>
          </a:p>
        </p:txBody>
      </p:sp>
      <p:sp>
        <p:nvSpPr>
          <p:cNvPr id="28" name="Text 26"/>
          <p:cNvSpPr/>
          <p:nvPr/>
        </p:nvSpPr>
        <p:spPr>
          <a:xfrm>
            <a:off x="6958584" y="2596896"/>
            <a:ext cx="2907792" cy="219456"/>
          </a:xfrm>
          <a:prstGeom prst="rect">
            <a:avLst/>
          </a:prstGeom>
          <a:noFill/>
          <a:ln/>
        </p:spPr>
        <p:txBody>
          <a:bodyPr wrap="square" lIns="0" tIns="0" rIns="0" bIns="0" rtlCol="0" anchor="ctr"/>
          <a:lstStyle/>
          <a:p>
            <a:pPr indent="0" marL="0">
              <a:buNone/>
            </a:pPr>
            <a:r>
              <a:rPr lang="en-US" sz="1200" b="1" dirty="0">
                <a:solidFill>
                  <a:srgbClr val="121A2E"/>
                </a:solidFill>
                <a:latin typeface="Calibri" pitchFamily="34" charset="0"/>
                <a:ea typeface="Calibri" pitchFamily="34" charset="-122"/>
                <a:cs typeface="Calibri" pitchFamily="34" charset="-120"/>
              </a:rPr>
              <a:t>FIAT Signer</a:t>
            </a:r>
            <a:endParaRPr lang="en-US" sz="1200" dirty="0"/>
          </a:p>
        </p:txBody>
      </p:sp>
      <p:sp>
        <p:nvSpPr>
          <p:cNvPr id="29" name="Text 27"/>
          <p:cNvSpPr/>
          <p:nvPr/>
        </p:nvSpPr>
        <p:spPr>
          <a:xfrm>
            <a:off x="9921240" y="2615184"/>
            <a:ext cx="1554480" cy="201168"/>
          </a:xfrm>
          <a:prstGeom prst="rect">
            <a:avLst/>
          </a:prstGeom>
          <a:noFill/>
          <a:ln/>
        </p:spPr>
        <p:txBody>
          <a:bodyPr wrap="square" lIns="0" tIns="0" rIns="0" bIns="0" rtlCol="0" anchor="ctr"/>
          <a:lstStyle/>
          <a:p>
            <a:pPr algn="r" indent="0" marL="0">
              <a:buNone/>
            </a:pPr>
            <a:r>
              <a:rPr lang="en-US" sz="900" dirty="0">
                <a:solidFill>
                  <a:srgbClr val="0A3AB9"/>
                </a:solidFill>
                <a:latin typeface="Calibri" pitchFamily="34" charset="0"/>
                <a:ea typeface="Calibri" pitchFamily="34" charset="-122"/>
                <a:cs typeface="Calibri" pitchFamily="34" charset="-120"/>
              </a:rPr>
              <a:t>Approvals</a:t>
            </a:r>
            <a:endParaRPr lang="en-US" sz="900" dirty="0"/>
          </a:p>
        </p:txBody>
      </p:sp>
      <p:sp>
        <p:nvSpPr>
          <p:cNvPr id="30" name="Text 28"/>
          <p:cNvSpPr/>
          <p:nvPr/>
        </p:nvSpPr>
        <p:spPr>
          <a:xfrm>
            <a:off x="6958584" y="2834640"/>
            <a:ext cx="4517136" cy="384048"/>
          </a:xfrm>
          <a:prstGeom prst="rect">
            <a:avLst/>
          </a:prstGeom>
          <a:noFill/>
          <a:ln/>
        </p:spPr>
        <p:txBody>
          <a:bodyPr wrap="square" lIns="0" tIns="0" rIns="0" bIns="0" rtlCol="0" anchor="ctr"/>
          <a:lstStyle/>
          <a:p>
            <a:pPr indent="0" marL="0">
              <a:buNone/>
            </a:pPr>
            <a:r>
              <a:rPr lang="en-US" sz="950" dirty="0">
                <a:solidFill>
                  <a:srgbClr val="3C4759"/>
                </a:solidFill>
                <a:latin typeface="Calibri" pitchFamily="34" charset="0"/>
                <a:ea typeface="Calibri" pitchFamily="34" charset="-122"/>
                <a:cs typeface="Calibri" pitchFamily="34" charset="-120"/>
              </a:rPr>
              <a:t>As a member of the fiat team, I need to sign incoming transactions and my outgoing payments real time.</a:t>
            </a:r>
            <a:endParaRPr lang="en-US" sz="950" dirty="0"/>
          </a:p>
        </p:txBody>
      </p:sp>
      <p:sp>
        <p:nvSpPr>
          <p:cNvPr id="31" name="Text 29"/>
          <p:cNvSpPr/>
          <p:nvPr/>
        </p:nvSpPr>
        <p:spPr>
          <a:xfrm>
            <a:off x="6958584" y="3236976"/>
            <a:ext cx="4517136" cy="201168"/>
          </a:xfrm>
          <a:prstGeom prst="rect">
            <a:avLst/>
          </a:prstGeom>
          <a:noFill/>
          <a:ln/>
        </p:spPr>
        <p:txBody>
          <a:bodyPr wrap="square" lIns="0" tIns="0" rIns="0" bIns="0" rtlCol="0" anchor="ctr"/>
          <a:lstStyle/>
          <a:p>
            <a:pPr indent="0" marL="0">
              <a:buNone/>
            </a:pPr>
            <a:r>
              <a:rPr lang="en-US" sz="850" dirty="0">
                <a:solidFill>
                  <a:srgbClr val="0A3AB9"/>
                </a:solidFill>
                <a:latin typeface="Courier New" pitchFamily="34" charset="0"/>
                <a:ea typeface="Courier New" pitchFamily="34" charset="-122"/>
                <a:cs typeface="Courier New" pitchFamily="34" charset="-120"/>
              </a:rPr>
              <a:t>all accounts</a:t>
            </a:r>
            <a:endParaRPr lang="en-US" sz="850" dirty="0"/>
          </a:p>
        </p:txBody>
      </p:sp>
      <p:sp>
        <p:nvSpPr>
          <p:cNvPr id="32" name="Shape 30"/>
          <p:cNvSpPr/>
          <p:nvPr/>
        </p:nvSpPr>
        <p:spPr>
          <a:xfrm>
            <a:off x="548640" y="3602736"/>
            <a:ext cx="5376672" cy="1024128"/>
          </a:xfrm>
          <a:prstGeom prst="roundRect">
            <a:avLst>
              <a:gd name="adj" fmla="val 5357"/>
            </a:avLst>
          </a:prstGeom>
          <a:solidFill>
            <a:srgbClr val="EFF3FD"/>
          </a:solidFill>
          <a:ln w="9525">
            <a:solidFill>
              <a:srgbClr val="DCE5F8"/>
            </a:solidFill>
            <a:prstDash val="solid"/>
          </a:ln>
        </p:spPr>
      </p:sp>
      <p:sp>
        <p:nvSpPr>
          <p:cNvPr id="33" name="Shape 31"/>
          <p:cNvSpPr/>
          <p:nvPr/>
        </p:nvSpPr>
        <p:spPr>
          <a:xfrm>
            <a:off x="731520" y="3767328"/>
            <a:ext cx="402336" cy="402336"/>
          </a:xfrm>
          <a:prstGeom prst="ellipse">
            <a:avLst/>
          </a:prstGeom>
          <a:solidFill>
            <a:srgbClr val="0A3AB9"/>
          </a:solidFill>
          <a:ln w="12700">
            <a:solidFill>
              <a:srgbClr val="0A3AB9"/>
            </a:solidFill>
            <a:prstDash val="solid"/>
          </a:ln>
        </p:spPr>
      </p:sp>
      <p:sp>
        <p:nvSpPr>
          <p:cNvPr id="34" name="Text 32"/>
          <p:cNvSpPr/>
          <p:nvPr/>
        </p:nvSpPr>
        <p:spPr>
          <a:xfrm>
            <a:off x="731520" y="3767328"/>
            <a:ext cx="4023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TA</a:t>
            </a:r>
            <a:endParaRPr lang="en-US" sz="1000" dirty="0"/>
          </a:p>
        </p:txBody>
      </p:sp>
      <p:sp>
        <p:nvSpPr>
          <p:cNvPr id="35" name="Text 33"/>
          <p:cNvSpPr/>
          <p:nvPr/>
        </p:nvSpPr>
        <p:spPr>
          <a:xfrm>
            <a:off x="1243584" y="3712464"/>
            <a:ext cx="2907792" cy="219456"/>
          </a:xfrm>
          <a:prstGeom prst="rect">
            <a:avLst/>
          </a:prstGeom>
          <a:noFill/>
          <a:ln/>
        </p:spPr>
        <p:txBody>
          <a:bodyPr wrap="square" lIns="0" tIns="0" rIns="0" bIns="0" rtlCol="0" anchor="ctr"/>
          <a:lstStyle/>
          <a:p>
            <a:pPr indent="0" marL="0">
              <a:buNone/>
            </a:pPr>
            <a:r>
              <a:rPr lang="en-US" sz="1200" b="1" dirty="0">
                <a:solidFill>
                  <a:srgbClr val="121A2E"/>
                </a:solidFill>
                <a:latin typeface="Calibri" pitchFamily="34" charset="0"/>
                <a:ea typeface="Calibri" pitchFamily="34" charset="-122"/>
                <a:cs typeface="Calibri" pitchFamily="34" charset="-120"/>
              </a:rPr>
              <a:t>Trading Desk · APAC</a:t>
            </a:r>
            <a:endParaRPr lang="en-US" sz="1200" dirty="0"/>
          </a:p>
        </p:txBody>
      </p:sp>
      <p:sp>
        <p:nvSpPr>
          <p:cNvPr id="36" name="Text 34"/>
          <p:cNvSpPr/>
          <p:nvPr/>
        </p:nvSpPr>
        <p:spPr>
          <a:xfrm>
            <a:off x="4206240" y="3730752"/>
            <a:ext cx="1554480" cy="201168"/>
          </a:xfrm>
          <a:prstGeom prst="rect">
            <a:avLst/>
          </a:prstGeom>
          <a:noFill/>
          <a:ln/>
        </p:spPr>
        <p:txBody>
          <a:bodyPr wrap="square" lIns="0" tIns="0" rIns="0" bIns="0" rtlCol="0" anchor="ctr"/>
          <a:lstStyle/>
          <a:p>
            <a:pPr algn="r" indent="0" marL="0">
              <a:buNone/>
            </a:pPr>
            <a:r>
              <a:rPr lang="en-US" sz="900" dirty="0">
                <a:solidFill>
                  <a:srgbClr val="0A3AB9"/>
                </a:solidFill>
                <a:latin typeface="Calibri" pitchFamily="34" charset="0"/>
                <a:ea typeface="Calibri" pitchFamily="34" charset="-122"/>
                <a:cs typeface="Calibri" pitchFamily="34" charset="-120"/>
              </a:rPr>
              <a:t>Reporting</a:t>
            </a:r>
            <a:endParaRPr lang="en-US" sz="900" dirty="0"/>
          </a:p>
        </p:txBody>
      </p:sp>
      <p:sp>
        <p:nvSpPr>
          <p:cNvPr id="37" name="Text 35"/>
          <p:cNvSpPr/>
          <p:nvPr/>
        </p:nvSpPr>
        <p:spPr>
          <a:xfrm>
            <a:off x="1243584" y="3950208"/>
            <a:ext cx="4517136" cy="384048"/>
          </a:xfrm>
          <a:prstGeom prst="rect">
            <a:avLst/>
          </a:prstGeom>
          <a:noFill/>
          <a:ln/>
        </p:spPr>
        <p:txBody>
          <a:bodyPr wrap="square" lIns="0" tIns="0" rIns="0" bIns="0" rtlCol="0" anchor="ctr"/>
          <a:lstStyle/>
          <a:p>
            <a:pPr indent="0" marL="0">
              <a:buNone/>
            </a:pPr>
            <a:r>
              <a:rPr lang="en-US" sz="950" dirty="0">
                <a:solidFill>
                  <a:srgbClr val="3C4759"/>
                </a:solidFill>
                <a:latin typeface="Calibri" pitchFamily="34" charset="0"/>
                <a:ea typeface="Calibri" pitchFamily="34" charset="-122"/>
                <a:cs typeface="Calibri" pitchFamily="34" charset="-120"/>
              </a:rPr>
              <a:t>As a member of the trading APAC team, I need to sight the payments my traders made and received.</a:t>
            </a:r>
            <a:endParaRPr lang="en-US" sz="950" dirty="0"/>
          </a:p>
        </p:txBody>
      </p:sp>
      <p:sp>
        <p:nvSpPr>
          <p:cNvPr id="38" name="Text 36"/>
          <p:cNvSpPr/>
          <p:nvPr/>
        </p:nvSpPr>
        <p:spPr>
          <a:xfrm>
            <a:off x="1243584" y="4352544"/>
            <a:ext cx="4517136" cy="201168"/>
          </a:xfrm>
          <a:prstGeom prst="rect">
            <a:avLst/>
          </a:prstGeom>
          <a:noFill/>
          <a:ln/>
        </p:spPr>
        <p:txBody>
          <a:bodyPr wrap="square" lIns="0" tIns="0" rIns="0" bIns="0" rtlCol="0" anchor="ctr"/>
          <a:lstStyle/>
          <a:p>
            <a:pPr indent="0" marL="0">
              <a:buNone/>
            </a:pPr>
            <a:r>
              <a:rPr lang="en-US" sz="850" dirty="0">
                <a:solidFill>
                  <a:srgbClr val="0A3AB9"/>
                </a:solidFill>
                <a:latin typeface="Courier New" pitchFamily="34" charset="0"/>
                <a:ea typeface="Courier New" pitchFamily="34" charset="-122"/>
                <a:cs typeface="Courier New" pitchFamily="34" charset="-120"/>
              </a:rPr>
              <a:t>purpose = OTC AND currency = SGD</a:t>
            </a:r>
            <a:endParaRPr lang="en-US" sz="850" dirty="0"/>
          </a:p>
        </p:txBody>
      </p:sp>
      <p:sp>
        <p:nvSpPr>
          <p:cNvPr id="39" name="Shape 37"/>
          <p:cNvSpPr/>
          <p:nvPr/>
        </p:nvSpPr>
        <p:spPr>
          <a:xfrm>
            <a:off x="6263640" y="3602736"/>
            <a:ext cx="5376672" cy="1024128"/>
          </a:xfrm>
          <a:prstGeom prst="roundRect">
            <a:avLst>
              <a:gd name="adj" fmla="val 5357"/>
            </a:avLst>
          </a:prstGeom>
          <a:solidFill>
            <a:srgbClr val="EFF3FD"/>
          </a:solidFill>
          <a:ln w="9525">
            <a:solidFill>
              <a:srgbClr val="DCE5F8"/>
            </a:solidFill>
            <a:prstDash val="solid"/>
          </a:ln>
        </p:spPr>
      </p:sp>
      <p:sp>
        <p:nvSpPr>
          <p:cNvPr id="40" name="Shape 38"/>
          <p:cNvSpPr/>
          <p:nvPr/>
        </p:nvSpPr>
        <p:spPr>
          <a:xfrm>
            <a:off x="6446520" y="3767328"/>
            <a:ext cx="402336" cy="402336"/>
          </a:xfrm>
          <a:prstGeom prst="ellipse">
            <a:avLst/>
          </a:prstGeom>
          <a:solidFill>
            <a:srgbClr val="0A3AB9"/>
          </a:solidFill>
          <a:ln w="12700">
            <a:solidFill>
              <a:srgbClr val="0A3AB9"/>
            </a:solidFill>
            <a:prstDash val="solid"/>
          </a:ln>
        </p:spPr>
      </p:sp>
      <p:sp>
        <p:nvSpPr>
          <p:cNvPr id="41" name="Text 39"/>
          <p:cNvSpPr/>
          <p:nvPr/>
        </p:nvSpPr>
        <p:spPr>
          <a:xfrm>
            <a:off x="6446520" y="3767328"/>
            <a:ext cx="4023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TU</a:t>
            </a:r>
            <a:endParaRPr lang="en-US" sz="1000" dirty="0"/>
          </a:p>
        </p:txBody>
      </p:sp>
      <p:sp>
        <p:nvSpPr>
          <p:cNvPr id="42" name="Text 40"/>
          <p:cNvSpPr/>
          <p:nvPr/>
        </p:nvSpPr>
        <p:spPr>
          <a:xfrm>
            <a:off x="6958584" y="3712464"/>
            <a:ext cx="2907792" cy="219456"/>
          </a:xfrm>
          <a:prstGeom prst="rect">
            <a:avLst/>
          </a:prstGeom>
          <a:noFill/>
          <a:ln/>
        </p:spPr>
        <p:txBody>
          <a:bodyPr wrap="square" lIns="0" tIns="0" rIns="0" bIns="0" rtlCol="0" anchor="ctr"/>
          <a:lstStyle/>
          <a:p>
            <a:pPr indent="0" marL="0">
              <a:buNone/>
            </a:pPr>
            <a:r>
              <a:rPr lang="en-US" sz="1200" b="1" dirty="0">
                <a:solidFill>
                  <a:srgbClr val="121A2E"/>
                </a:solidFill>
                <a:latin typeface="Calibri" pitchFamily="34" charset="0"/>
                <a:ea typeface="Calibri" pitchFamily="34" charset="-122"/>
                <a:cs typeface="Calibri" pitchFamily="34" charset="-120"/>
              </a:rPr>
              <a:t>Trading Desk · US</a:t>
            </a:r>
            <a:endParaRPr lang="en-US" sz="1200" dirty="0"/>
          </a:p>
        </p:txBody>
      </p:sp>
      <p:sp>
        <p:nvSpPr>
          <p:cNvPr id="43" name="Text 41"/>
          <p:cNvSpPr/>
          <p:nvPr/>
        </p:nvSpPr>
        <p:spPr>
          <a:xfrm>
            <a:off x="9921240" y="3730752"/>
            <a:ext cx="1554480" cy="201168"/>
          </a:xfrm>
          <a:prstGeom prst="rect">
            <a:avLst/>
          </a:prstGeom>
          <a:noFill/>
          <a:ln/>
        </p:spPr>
        <p:txBody>
          <a:bodyPr wrap="square" lIns="0" tIns="0" rIns="0" bIns="0" rtlCol="0" anchor="ctr"/>
          <a:lstStyle/>
          <a:p>
            <a:pPr algn="r" indent="0" marL="0">
              <a:buNone/>
            </a:pPr>
            <a:r>
              <a:rPr lang="en-US" sz="900" dirty="0">
                <a:solidFill>
                  <a:srgbClr val="0A3AB9"/>
                </a:solidFill>
                <a:latin typeface="Calibri" pitchFamily="34" charset="0"/>
                <a:ea typeface="Calibri" pitchFamily="34" charset="-122"/>
                <a:cs typeface="Calibri" pitchFamily="34" charset="-120"/>
              </a:rPr>
              <a:t>Reporting</a:t>
            </a:r>
            <a:endParaRPr lang="en-US" sz="900" dirty="0"/>
          </a:p>
        </p:txBody>
      </p:sp>
      <p:sp>
        <p:nvSpPr>
          <p:cNvPr id="44" name="Text 42"/>
          <p:cNvSpPr/>
          <p:nvPr/>
        </p:nvSpPr>
        <p:spPr>
          <a:xfrm>
            <a:off x="6958584" y="3950208"/>
            <a:ext cx="4517136" cy="384048"/>
          </a:xfrm>
          <a:prstGeom prst="rect">
            <a:avLst/>
          </a:prstGeom>
          <a:noFill/>
          <a:ln/>
        </p:spPr>
        <p:txBody>
          <a:bodyPr wrap="square" lIns="0" tIns="0" rIns="0" bIns="0" rtlCol="0" anchor="ctr"/>
          <a:lstStyle/>
          <a:p>
            <a:pPr indent="0" marL="0">
              <a:buNone/>
            </a:pPr>
            <a:r>
              <a:rPr lang="en-US" sz="950" dirty="0">
                <a:solidFill>
                  <a:srgbClr val="3C4759"/>
                </a:solidFill>
                <a:latin typeface="Calibri" pitchFamily="34" charset="0"/>
                <a:ea typeface="Calibri" pitchFamily="34" charset="-122"/>
                <a:cs typeface="Calibri" pitchFamily="34" charset="-120"/>
              </a:rPr>
              <a:t>As a member of the trading US team, I need to sight the payments my traders made and received.</a:t>
            </a:r>
            <a:endParaRPr lang="en-US" sz="950" dirty="0"/>
          </a:p>
        </p:txBody>
      </p:sp>
      <p:sp>
        <p:nvSpPr>
          <p:cNvPr id="45" name="Text 43"/>
          <p:cNvSpPr/>
          <p:nvPr/>
        </p:nvSpPr>
        <p:spPr>
          <a:xfrm>
            <a:off x="6958584" y="4352544"/>
            <a:ext cx="4517136" cy="201168"/>
          </a:xfrm>
          <a:prstGeom prst="rect">
            <a:avLst/>
          </a:prstGeom>
          <a:noFill/>
          <a:ln/>
        </p:spPr>
        <p:txBody>
          <a:bodyPr wrap="square" lIns="0" tIns="0" rIns="0" bIns="0" rtlCol="0" anchor="ctr"/>
          <a:lstStyle/>
          <a:p>
            <a:pPr indent="0" marL="0">
              <a:buNone/>
            </a:pPr>
            <a:r>
              <a:rPr lang="en-US" sz="850" dirty="0">
                <a:solidFill>
                  <a:srgbClr val="0A3AB9"/>
                </a:solidFill>
                <a:latin typeface="Courier New" pitchFamily="34" charset="0"/>
                <a:ea typeface="Courier New" pitchFamily="34" charset="-122"/>
                <a:cs typeface="Courier New" pitchFamily="34" charset="-120"/>
              </a:rPr>
              <a:t>purpose = OTC AND country = US</a:t>
            </a:r>
            <a:endParaRPr lang="en-US" sz="850" dirty="0"/>
          </a:p>
        </p:txBody>
      </p:sp>
      <p:sp>
        <p:nvSpPr>
          <p:cNvPr id="46" name="Shape 44"/>
          <p:cNvSpPr/>
          <p:nvPr/>
        </p:nvSpPr>
        <p:spPr>
          <a:xfrm>
            <a:off x="548640" y="4718304"/>
            <a:ext cx="5376672" cy="1024128"/>
          </a:xfrm>
          <a:prstGeom prst="roundRect">
            <a:avLst>
              <a:gd name="adj" fmla="val 5357"/>
            </a:avLst>
          </a:prstGeom>
          <a:solidFill>
            <a:srgbClr val="EFF3FD"/>
          </a:solidFill>
          <a:ln w="9525">
            <a:solidFill>
              <a:srgbClr val="DCE5F8"/>
            </a:solidFill>
            <a:prstDash val="solid"/>
          </a:ln>
        </p:spPr>
      </p:sp>
      <p:sp>
        <p:nvSpPr>
          <p:cNvPr id="47" name="Shape 45"/>
          <p:cNvSpPr/>
          <p:nvPr/>
        </p:nvSpPr>
        <p:spPr>
          <a:xfrm>
            <a:off x="731520" y="4882896"/>
            <a:ext cx="402336" cy="402336"/>
          </a:xfrm>
          <a:prstGeom prst="ellipse">
            <a:avLst/>
          </a:prstGeom>
          <a:solidFill>
            <a:srgbClr val="0A3AB9"/>
          </a:solidFill>
          <a:ln w="12700">
            <a:solidFill>
              <a:srgbClr val="0A3AB9"/>
            </a:solidFill>
            <a:prstDash val="solid"/>
          </a:ln>
        </p:spPr>
      </p:sp>
      <p:sp>
        <p:nvSpPr>
          <p:cNvPr id="48" name="Text 46"/>
          <p:cNvSpPr/>
          <p:nvPr/>
        </p:nvSpPr>
        <p:spPr>
          <a:xfrm>
            <a:off x="731520" y="4882896"/>
            <a:ext cx="4023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FC</a:t>
            </a:r>
            <a:endParaRPr lang="en-US" sz="1000" dirty="0"/>
          </a:p>
        </p:txBody>
      </p:sp>
      <p:sp>
        <p:nvSpPr>
          <p:cNvPr id="49" name="Text 47"/>
          <p:cNvSpPr/>
          <p:nvPr/>
        </p:nvSpPr>
        <p:spPr>
          <a:xfrm>
            <a:off x="1243584" y="4828032"/>
            <a:ext cx="2907792" cy="219456"/>
          </a:xfrm>
          <a:prstGeom prst="rect">
            <a:avLst/>
          </a:prstGeom>
          <a:noFill/>
          <a:ln/>
        </p:spPr>
        <p:txBody>
          <a:bodyPr wrap="square" lIns="0" tIns="0" rIns="0" bIns="0" rtlCol="0" anchor="ctr"/>
          <a:lstStyle/>
          <a:p>
            <a:pPr indent="0" marL="0">
              <a:buNone/>
            </a:pPr>
            <a:r>
              <a:rPr lang="en-US" sz="1200" b="1" dirty="0">
                <a:solidFill>
                  <a:srgbClr val="121A2E"/>
                </a:solidFill>
                <a:latin typeface="Calibri" pitchFamily="34" charset="0"/>
                <a:ea typeface="Calibri" pitchFamily="34" charset="-122"/>
                <a:cs typeface="Calibri" pitchFamily="34" charset="-120"/>
              </a:rPr>
              <a:t>Financial Controller</a:t>
            </a:r>
            <a:endParaRPr lang="en-US" sz="1200" dirty="0"/>
          </a:p>
        </p:txBody>
      </p:sp>
      <p:sp>
        <p:nvSpPr>
          <p:cNvPr id="50" name="Text 48"/>
          <p:cNvSpPr/>
          <p:nvPr/>
        </p:nvSpPr>
        <p:spPr>
          <a:xfrm>
            <a:off x="4206240" y="4846320"/>
            <a:ext cx="1554480" cy="201168"/>
          </a:xfrm>
          <a:prstGeom prst="rect">
            <a:avLst/>
          </a:prstGeom>
          <a:noFill/>
          <a:ln/>
        </p:spPr>
        <p:txBody>
          <a:bodyPr wrap="square" lIns="0" tIns="0" rIns="0" bIns="0" rtlCol="0" anchor="ctr"/>
          <a:lstStyle/>
          <a:p>
            <a:pPr algn="r" indent="0" marL="0">
              <a:buNone/>
            </a:pPr>
            <a:r>
              <a:rPr lang="en-US" sz="900" dirty="0">
                <a:solidFill>
                  <a:srgbClr val="0A3AB9"/>
                </a:solidFill>
                <a:latin typeface="Calibri" pitchFamily="34" charset="0"/>
                <a:ea typeface="Calibri" pitchFamily="34" charset="-122"/>
                <a:cs typeface="Calibri" pitchFamily="34" charset="-120"/>
              </a:rPr>
              <a:t>Approvals</a:t>
            </a:r>
            <a:endParaRPr lang="en-US" sz="900" dirty="0"/>
          </a:p>
        </p:txBody>
      </p:sp>
      <p:sp>
        <p:nvSpPr>
          <p:cNvPr id="51" name="Text 49"/>
          <p:cNvSpPr/>
          <p:nvPr/>
        </p:nvSpPr>
        <p:spPr>
          <a:xfrm>
            <a:off x="1243584" y="5065776"/>
            <a:ext cx="4517136" cy="384048"/>
          </a:xfrm>
          <a:prstGeom prst="rect">
            <a:avLst/>
          </a:prstGeom>
          <a:noFill/>
          <a:ln/>
        </p:spPr>
        <p:txBody>
          <a:bodyPr wrap="square" lIns="0" tIns="0" rIns="0" bIns="0" rtlCol="0" anchor="ctr"/>
          <a:lstStyle/>
          <a:p>
            <a:pPr indent="0" marL="0">
              <a:buNone/>
            </a:pPr>
            <a:r>
              <a:rPr lang="en-US" sz="950" dirty="0">
                <a:solidFill>
                  <a:srgbClr val="3C4759"/>
                </a:solidFill>
                <a:latin typeface="Calibri" pitchFamily="34" charset="0"/>
                <a:ea typeface="Calibri" pitchFamily="34" charset="-122"/>
                <a:cs typeface="Calibri" pitchFamily="34" charset="-120"/>
              </a:rPr>
              <a:t>As the financial controller, I need to review payments before cut off.</a:t>
            </a:r>
            <a:endParaRPr lang="en-US" sz="950" dirty="0"/>
          </a:p>
        </p:txBody>
      </p:sp>
      <p:sp>
        <p:nvSpPr>
          <p:cNvPr id="52" name="Text 50"/>
          <p:cNvSpPr/>
          <p:nvPr/>
        </p:nvSpPr>
        <p:spPr>
          <a:xfrm>
            <a:off x="1243584" y="5468112"/>
            <a:ext cx="4517136" cy="201168"/>
          </a:xfrm>
          <a:prstGeom prst="rect">
            <a:avLst/>
          </a:prstGeom>
          <a:noFill/>
          <a:ln/>
        </p:spPr>
        <p:txBody>
          <a:bodyPr wrap="square" lIns="0" tIns="0" rIns="0" bIns="0" rtlCol="0" anchor="ctr"/>
          <a:lstStyle/>
          <a:p>
            <a:pPr indent="0" marL="0">
              <a:buNone/>
            </a:pPr>
            <a:r>
              <a:rPr lang="en-US" sz="850" dirty="0">
                <a:solidFill>
                  <a:srgbClr val="0A3AB9"/>
                </a:solidFill>
                <a:latin typeface="Courier New" pitchFamily="34" charset="0"/>
                <a:ea typeface="Courier New" pitchFamily="34" charset="-122"/>
                <a:cs typeface="Courier New" pitchFamily="34" charset="-120"/>
              </a:rPr>
              <a:t>all accounts</a:t>
            </a:r>
            <a:endParaRPr lang="en-US" sz="850" dirty="0"/>
          </a:p>
        </p:txBody>
      </p:sp>
      <p:sp>
        <p:nvSpPr>
          <p:cNvPr id="53" name="Shape 51"/>
          <p:cNvSpPr/>
          <p:nvPr/>
        </p:nvSpPr>
        <p:spPr>
          <a:xfrm>
            <a:off x="6263640" y="4718304"/>
            <a:ext cx="5376672" cy="1024128"/>
          </a:xfrm>
          <a:prstGeom prst="roundRect">
            <a:avLst>
              <a:gd name="adj" fmla="val 5357"/>
            </a:avLst>
          </a:prstGeom>
          <a:solidFill>
            <a:srgbClr val="EFF3FD"/>
          </a:solidFill>
          <a:ln w="9525">
            <a:solidFill>
              <a:srgbClr val="DCE5F8"/>
            </a:solidFill>
            <a:prstDash val="solid"/>
          </a:ln>
        </p:spPr>
      </p:sp>
      <p:sp>
        <p:nvSpPr>
          <p:cNvPr id="54" name="Shape 52"/>
          <p:cNvSpPr/>
          <p:nvPr/>
        </p:nvSpPr>
        <p:spPr>
          <a:xfrm>
            <a:off x="6446520" y="4882896"/>
            <a:ext cx="402336" cy="402336"/>
          </a:xfrm>
          <a:prstGeom prst="ellipse">
            <a:avLst/>
          </a:prstGeom>
          <a:solidFill>
            <a:srgbClr val="0A3AB9"/>
          </a:solidFill>
          <a:ln w="12700">
            <a:solidFill>
              <a:srgbClr val="0A3AB9"/>
            </a:solidFill>
            <a:prstDash val="solid"/>
          </a:ln>
        </p:spPr>
      </p:sp>
      <p:sp>
        <p:nvSpPr>
          <p:cNvPr id="55" name="Text 53"/>
          <p:cNvSpPr/>
          <p:nvPr/>
        </p:nvSpPr>
        <p:spPr>
          <a:xfrm>
            <a:off x="6446520" y="4882896"/>
            <a:ext cx="4023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CS</a:t>
            </a:r>
            <a:endParaRPr lang="en-US" sz="1000" dirty="0"/>
          </a:p>
        </p:txBody>
      </p:sp>
      <p:sp>
        <p:nvSpPr>
          <p:cNvPr id="56" name="Text 54"/>
          <p:cNvSpPr/>
          <p:nvPr/>
        </p:nvSpPr>
        <p:spPr>
          <a:xfrm>
            <a:off x="6958584" y="4828032"/>
            <a:ext cx="2907792" cy="219456"/>
          </a:xfrm>
          <a:prstGeom prst="rect">
            <a:avLst/>
          </a:prstGeom>
          <a:noFill/>
          <a:ln/>
        </p:spPr>
        <p:txBody>
          <a:bodyPr wrap="square" lIns="0" tIns="0" rIns="0" bIns="0" rtlCol="0" anchor="ctr"/>
          <a:lstStyle/>
          <a:p>
            <a:pPr indent="0" marL="0">
              <a:buNone/>
            </a:pPr>
            <a:r>
              <a:rPr lang="en-US" sz="1200" b="1" dirty="0">
                <a:solidFill>
                  <a:srgbClr val="121A2E"/>
                </a:solidFill>
                <a:latin typeface="Calibri" pitchFamily="34" charset="0"/>
                <a:ea typeface="Calibri" pitchFamily="34" charset="-122"/>
                <a:cs typeface="Calibri" pitchFamily="34" charset="-120"/>
              </a:rPr>
              <a:t>Customer Support</a:t>
            </a:r>
            <a:endParaRPr lang="en-US" sz="1200" dirty="0"/>
          </a:p>
        </p:txBody>
      </p:sp>
      <p:sp>
        <p:nvSpPr>
          <p:cNvPr id="57" name="Text 55"/>
          <p:cNvSpPr/>
          <p:nvPr/>
        </p:nvSpPr>
        <p:spPr>
          <a:xfrm>
            <a:off x="9921240" y="4846320"/>
            <a:ext cx="1554480" cy="201168"/>
          </a:xfrm>
          <a:prstGeom prst="rect">
            <a:avLst/>
          </a:prstGeom>
          <a:noFill/>
          <a:ln/>
        </p:spPr>
        <p:txBody>
          <a:bodyPr wrap="square" lIns="0" tIns="0" rIns="0" bIns="0" rtlCol="0" anchor="ctr"/>
          <a:lstStyle/>
          <a:p>
            <a:pPr algn="r" indent="0" marL="0">
              <a:buNone/>
            </a:pPr>
            <a:r>
              <a:rPr lang="en-US" sz="900" dirty="0">
                <a:solidFill>
                  <a:srgbClr val="0A3AB9"/>
                </a:solidFill>
                <a:latin typeface="Calibri" pitchFamily="34" charset="0"/>
                <a:ea typeface="Calibri" pitchFamily="34" charset="-122"/>
                <a:cs typeface="Calibri" pitchFamily="34" charset="-120"/>
              </a:rPr>
              <a:t>Payment Support</a:t>
            </a:r>
            <a:endParaRPr lang="en-US" sz="900" dirty="0"/>
          </a:p>
        </p:txBody>
      </p:sp>
      <p:sp>
        <p:nvSpPr>
          <p:cNvPr id="58" name="Text 56"/>
          <p:cNvSpPr/>
          <p:nvPr/>
        </p:nvSpPr>
        <p:spPr>
          <a:xfrm>
            <a:off x="6958584" y="5065776"/>
            <a:ext cx="4517136" cy="384048"/>
          </a:xfrm>
          <a:prstGeom prst="rect">
            <a:avLst/>
          </a:prstGeom>
          <a:noFill/>
          <a:ln/>
        </p:spPr>
        <p:txBody>
          <a:bodyPr wrap="square" lIns="0" tIns="0" rIns="0" bIns="0" rtlCol="0" anchor="ctr"/>
          <a:lstStyle/>
          <a:p>
            <a:pPr indent="0" marL="0">
              <a:buNone/>
            </a:pPr>
            <a:r>
              <a:rPr lang="en-US" sz="950" dirty="0">
                <a:solidFill>
                  <a:srgbClr val="3C4759"/>
                </a:solidFill>
                <a:latin typeface="Calibri" pitchFamily="34" charset="0"/>
                <a:ea typeface="Calibri" pitchFamily="34" charset="-122"/>
                <a:cs typeface="Calibri" pitchFamily="34" charset="-120"/>
              </a:rPr>
              <a:t>As a member of the customer service team, I should only review certain payment details and add a comment when asked.</a:t>
            </a:r>
            <a:endParaRPr lang="en-US" sz="950" dirty="0"/>
          </a:p>
        </p:txBody>
      </p:sp>
      <p:sp>
        <p:nvSpPr>
          <p:cNvPr id="59" name="Text 57"/>
          <p:cNvSpPr/>
          <p:nvPr/>
        </p:nvSpPr>
        <p:spPr>
          <a:xfrm>
            <a:off x="6958584" y="5468112"/>
            <a:ext cx="4517136" cy="201168"/>
          </a:xfrm>
          <a:prstGeom prst="rect">
            <a:avLst/>
          </a:prstGeom>
          <a:noFill/>
          <a:ln/>
        </p:spPr>
        <p:txBody>
          <a:bodyPr wrap="square" lIns="0" tIns="0" rIns="0" bIns="0" rtlCol="0" anchor="ctr"/>
          <a:lstStyle/>
          <a:p>
            <a:pPr indent="0" marL="0">
              <a:buNone/>
            </a:pPr>
            <a:r>
              <a:rPr lang="en-US" sz="850" dirty="0">
                <a:solidFill>
                  <a:srgbClr val="0A3AB9"/>
                </a:solidFill>
                <a:latin typeface="Courier New" pitchFamily="34" charset="0"/>
                <a:ea typeface="Courier New" pitchFamily="34" charset="-122"/>
                <a:cs typeface="Courier New" pitchFamily="34" charset="-120"/>
              </a:rPr>
              <a:t>all accounts · edit and comment</a:t>
            </a:r>
            <a:endParaRPr lang="en-US" sz="850" dirty="0"/>
          </a:p>
        </p:txBody>
      </p:sp>
      <p:sp>
        <p:nvSpPr>
          <p:cNvPr id="60" name="Text 58"/>
          <p:cNvSpPr/>
          <p:nvPr/>
        </p:nvSpPr>
        <p:spPr>
          <a:xfrm>
            <a:off x="548640" y="5943600"/>
            <a:ext cx="11109960" cy="274320"/>
          </a:xfrm>
          <a:prstGeom prst="rect">
            <a:avLst/>
          </a:prstGeom>
          <a:noFill/>
          <a:ln/>
        </p:spPr>
        <p:txBody>
          <a:bodyPr wrap="square" lIns="0" tIns="0" rIns="0" bIns="0" rtlCol="0" anchor="ctr"/>
          <a:lstStyle/>
          <a:p>
            <a:pPr indent="0" marL="0">
              <a:buNone/>
            </a:pPr>
            <a:r>
              <a:rPr lang="en-US" sz="1000" i="1" dirty="0">
                <a:solidFill>
                  <a:srgbClr val="5B6478"/>
                </a:solidFill>
                <a:latin typeface="Calibri" pitchFamily="34" charset="0"/>
                <a:ea typeface="Calibri" pitchFamily="34" charset="-122"/>
                <a:cs typeface="Calibri" pitchFamily="34" charset="-120"/>
              </a:rPr>
              <a:t>Trading APAC and Trading US are one role over two scopes. FIAT Signer and Financial Controller are two roles over one permission set. Balances and Comments do not exist in the catalogue yet.</a:t>
            </a:r>
            <a:endParaRPr lang="en-US" sz="1000" dirty="0"/>
          </a:p>
        </p:txBody>
      </p:sp>
      <p:sp>
        <p:nvSpPr>
          <p:cNvPr id="61" name="Text 59"/>
          <p:cNvSpPr/>
          <p:nvPr/>
        </p:nvSpPr>
        <p:spPr>
          <a:xfrm>
            <a:off x="548640" y="6254496"/>
            <a:ext cx="11109960" cy="274320"/>
          </a:xfrm>
          <a:prstGeom prst="rect">
            <a:avLst/>
          </a:prstGeom>
          <a:noFill/>
          <a:ln/>
        </p:spPr>
        <p:txBody>
          <a:bodyPr wrap="square" lIns="0" tIns="0" rIns="0" bIns="0" rtlCol="0" anchor="ctr"/>
          <a:lstStyle/>
          <a:p>
            <a:pPr indent="0" marL="0">
              <a:buNone/>
            </a:pPr>
            <a:r>
              <a:rPr lang="en-US" sz="1000" i="1" dirty="0">
                <a:solidFill>
                  <a:srgbClr val="5B6478"/>
                </a:solidFill>
                <a:latin typeface="Calibri" pitchFamily="34" charset="0"/>
                <a:ea typeface="Calibri" pitchFamily="34" charset="-122"/>
                <a:cs typeface="Calibri" pitchFamily="34" charset="-120"/>
              </a:rPr>
              <a:t>Open: "certain payment details" is field level, "sign incoming transactions" is undefined, and an account has no purpose attribute to mark it OTC.</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Access hierarchy and personas</dc:title>
  <dc:subject>PptxGenJS Presentation</dc:subject>
  <dc:creator>Acme</dc:creator>
  <cp:lastModifiedBy>Acme</cp:lastModifiedBy>
  <cp:revision>1</cp:revision>
  <dcterms:created xsi:type="dcterms:W3CDTF">2026-08-13T07:57:47Z</dcterms:created>
  <dcterms:modified xsi:type="dcterms:W3CDTF">2026-08-13T07:57:47Z</dcterms:modified>
</cp:coreProperties>
</file>